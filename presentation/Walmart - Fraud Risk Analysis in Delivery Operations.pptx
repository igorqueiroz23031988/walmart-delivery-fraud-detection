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256" r:id="rId2"/>
    <p:sldId id="258" r:id="rId3"/>
    <p:sldId id="257" r:id="rId4"/>
    <p:sldId id="261" r:id="rId5"/>
    <p:sldId id="262" r:id="rId6"/>
    <p:sldId id="265" r:id="rId7"/>
    <p:sldId id="266" r:id="rId8"/>
    <p:sldId id="267" r:id="rId9"/>
    <p:sldId id="268" r:id="rId10"/>
    <p:sldId id="269" r:id="rId11"/>
    <p:sldId id="270" r:id="rId12"/>
    <p:sldId id="271" r:id="rId13"/>
    <p:sldId id="272" r:id="rId14"/>
    <p:sldId id="274" r:id="rId15"/>
    <p:sldId id="273" r:id="rId16"/>
    <p:sldId id="275" r:id="rId17"/>
    <p:sldId id="276" r:id="rId18"/>
    <p:sldId id="277" r:id="rId19"/>
    <p:sldId id="279" r:id="rId20"/>
    <p:sldId id="280" r:id="rId21"/>
    <p:sldId id="278" r:id="rId22"/>
    <p:sldId id="281" r:id="rId23"/>
    <p:sldId id="283" r:id="rId24"/>
    <p:sldId id="284" r:id="rId25"/>
    <p:sldId id="286" r:id="rId26"/>
    <p:sldId id="282" r:id="rId27"/>
    <p:sldId id="285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  <p:sldId id="298" r:id="rId39"/>
    <p:sldId id="297" r:id="rId40"/>
    <p:sldId id="299" r:id="rId41"/>
    <p:sldId id="303" r:id="rId42"/>
    <p:sldId id="302" r:id="rId43"/>
    <p:sldId id="300" r:id="rId44"/>
    <p:sldId id="301" r:id="rId45"/>
    <p:sldId id="259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BA"/>
    <a:srgbClr val="107BCA"/>
    <a:srgbClr val="FDBC30"/>
    <a:srgbClr val="F200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04" autoAdjust="0"/>
    <p:restoredTop sz="95958"/>
  </p:normalViewPr>
  <p:slideViewPr>
    <p:cSldViewPr snapToGrid="0">
      <p:cViewPr varScale="1">
        <p:scale>
          <a:sx n="64" d="100"/>
          <a:sy n="64" d="100"/>
        </p:scale>
        <p:origin x="77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92F8F4-3A56-45F7-A40D-BD33D53E9BFB}" type="datetimeFigureOut">
              <a:rPr lang="en-IE" smtClean="0"/>
              <a:t>20/03/2026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B12A50-B8D0-42E8-957C-366161382CB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960226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50475" y="2866291"/>
            <a:ext cx="8023861" cy="1717983"/>
          </a:xfrm>
        </p:spPr>
        <p:txBody>
          <a:bodyPr anchor="b">
            <a:normAutofit/>
          </a:bodyPr>
          <a:lstStyle>
            <a:lvl1pPr algn="ctr">
              <a:defRPr sz="5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50476" y="4692112"/>
            <a:ext cx="8023861" cy="648380"/>
          </a:xfrm>
        </p:spPr>
        <p:txBody>
          <a:bodyPr>
            <a:normAutofit/>
          </a:bodyPr>
          <a:lstStyle>
            <a:lvl1pPr marL="0" indent="0" algn="ctr">
              <a:buNone/>
              <a:defRPr sz="23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150475" y="6291035"/>
            <a:ext cx="1971397" cy="365125"/>
          </a:xfrm>
        </p:spPr>
        <p:txBody>
          <a:bodyPr/>
          <a:lstStyle/>
          <a:p>
            <a:fld id="{276D79ED-3FA7-4EF8-964B-EB8BCFAB02F8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752155" y="6291035"/>
            <a:ext cx="3275511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57949" y="6291036"/>
            <a:ext cx="1516387" cy="365125"/>
          </a:xfrm>
        </p:spPr>
        <p:txBody>
          <a:bodyPr/>
          <a:lstStyle/>
          <a:p>
            <a:fld id="{C6F12CB2-7F2C-47B9-AE70-22A94B49F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379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BE35D34-AFF6-FD67-69F4-07CA10FF01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093" y="1841862"/>
            <a:ext cx="11261821" cy="4387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1EFFF79B-CB1A-2DB9-D1D3-2B5716D641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74369" y="6356349"/>
            <a:ext cx="1971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</a:lstStyle>
          <a:p>
            <a:fld id="{276D79ED-3FA7-4EF8-964B-EB8BCFAB02F8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C5618634-64F8-E86E-D531-28BAC31779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6049" y="6356349"/>
            <a:ext cx="65319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E2E703D6-3CE9-255E-BAAA-446DB0D0AE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61171" y="6356350"/>
            <a:ext cx="12627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</a:lstStyle>
          <a:p>
            <a:fld id="{C6F12CB2-7F2C-47B9-AE70-22A94B49F2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C909A6-1A45-C218-504B-235FA16D4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75256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2093" y="1683613"/>
            <a:ext cx="8251553" cy="2852737"/>
          </a:xfrm>
        </p:spPr>
        <p:txBody>
          <a:bodyPr anchor="b">
            <a:normAutofit/>
          </a:bodyPr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2093" y="4563338"/>
            <a:ext cx="8251553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19243" y="6356349"/>
            <a:ext cx="2183674" cy="365125"/>
          </a:xfrm>
        </p:spPr>
        <p:txBody>
          <a:bodyPr/>
          <a:lstStyle/>
          <a:p>
            <a:fld id="{276D79ED-3FA7-4EF8-964B-EB8BCFAB02F8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33199" y="6356349"/>
            <a:ext cx="3275511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38993" y="6356350"/>
            <a:ext cx="1474653" cy="365125"/>
          </a:xfrm>
        </p:spPr>
        <p:txBody>
          <a:bodyPr/>
          <a:lstStyle/>
          <a:p>
            <a:fld id="{C6F12CB2-7F2C-47B9-AE70-22A94B49F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3463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04942" y="1873975"/>
            <a:ext cx="5627913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59146" y="1873975"/>
            <a:ext cx="5564767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D79ED-3FA7-4EF8-964B-EB8BCFAB02F8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12CB2-7F2C-47B9-AE70-22A94B49F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249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4943" y="299811"/>
            <a:ext cx="11318971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4940" y="1615849"/>
            <a:ext cx="5627914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4941" y="2439761"/>
            <a:ext cx="5627914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0" y="1615849"/>
            <a:ext cx="5627914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96000" y="2439761"/>
            <a:ext cx="5627914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D79ED-3FA7-4EF8-964B-EB8BCFAB02F8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12CB2-7F2C-47B9-AE70-22A94B49F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711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D79ED-3FA7-4EF8-964B-EB8BCFAB02F8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12CB2-7F2C-47B9-AE70-22A94B49F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736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D79ED-3FA7-4EF8-964B-EB8BCFAB02F8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12CB2-7F2C-47B9-AE70-22A94B49F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554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hyperlink" Target="http://www.prezentr.com/?utm_source=templates&amp;utm_medium=presentation&amp;utm_campaign=free_downloads_2020" TargetMode="Externa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2093" y="417376"/>
            <a:ext cx="1126182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2093" y="1841862"/>
            <a:ext cx="11261821" cy="4387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74369" y="6482961"/>
            <a:ext cx="1971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</a:lstStyle>
          <a:p>
            <a:fld id="{276D79ED-3FA7-4EF8-964B-EB8BCFAB02F8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76049" y="6482961"/>
            <a:ext cx="65319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1171" y="6482962"/>
            <a:ext cx="12627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</a:lstStyle>
          <a:p>
            <a:fld id="{C6F12CB2-7F2C-47B9-AE70-22A94B49F233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-610475" y="4914981"/>
            <a:ext cx="896556" cy="324395"/>
          </a:xfrm>
          <a:prstGeom prst="rect">
            <a:avLst/>
          </a:prstGeom>
        </p:spPr>
      </p:pic>
      <p:sp>
        <p:nvSpPr>
          <p:cNvPr id="12" name="TextBox 11"/>
          <p:cNvSpPr txBox="1"/>
          <p:nvPr userDrawn="1"/>
        </p:nvSpPr>
        <p:spPr>
          <a:xfrm rot="16200000">
            <a:off x="-2113768" y="2546065"/>
            <a:ext cx="38886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bs-Latn-BA" sz="1200" dirty="0">
                <a:solidFill>
                  <a:schemeClr val="bg1">
                    <a:lumMod val="65000"/>
                  </a:schemeClr>
                </a:solidFill>
              </a:rPr>
              <a:t>Find</a:t>
            </a:r>
            <a:r>
              <a:rPr lang="bs-Latn-BA" sz="1200" baseline="0" dirty="0">
                <a:solidFill>
                  <a:schemeClr val="bg1">
                    <a:lumMod val="65000"/>
                  </a:schemeClr>
                </a:solidFill>
              </a:rPr>
              <a:t> m</a:t>
            </a:r>
            <a:r>
              <a:rPr lang="bs-Latn-BA" sz="1200" dirty="0">
                <a:solidFill>
                  <a:schemeClr val="bg1">
                    <a:lumMod val="65000"/>
                  </a:schemeClr>
                </a:solidFill>
              </a:rPr>
              <a:t>ore PowerPoint templates</a:t>
            </a:r>
            <a:r>
              <a:rPr lang="bs-Latn-BA" sz="1200" baseline="0" dirty="0">
                <a:solidFill>
                  <a:schemeClr val="bg1">
                    <a:lumMod val="65000"/>
                  </a:schemeClr>
                </a:solidFill>
              </a:rPr>
              <a:t> on </a:t>
            </a:r>
            <a:r>
              <a:rPr lang="bs-Latn-BA" sz="1200" b="1" baseline="0" dirty="0">
                <a:solidFill>
                  <a:schemeClr val="bg1">
                    <a:lumMod val="65000"/>
                  </a:schemeClr>
                </a:solidFill>
                <a:hlinkClick r:id="rId11"/>
              </a:rPr>
              <a:t>prezentr.com</a:t>
            </a:r>
            <a:r>
              <a:rPr lang="bs-Latn-BA" sz="1200" baseline="0" dirty="0">
                <a:solidFill>
                  <a:schemeClr val="bg1">
                    <a:lumMod val="65000"/>
                  </a:schemeClr>
                </a:solidFill>
              </a:rPr>
              <a:t>!</a:t>
            </a:r>
            <a:endParaRPr 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7349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70BA"/>
          </a:solidFill>
          <a:latin typeface="Roboto" panose="02000000000000000000" pitchFamily="2" charset="0"/>
          <a:ea typeface="Roboto" panose="02000000000000000000" pitchFamily="2" charset="0"/>
          <a:cs typeface="Open Sans" panose="020B06060305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Open Sans" panose="020B0606030504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Open Sans" panose="020B0606030504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Open Sans" panose="020B0606030504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Open Sans" panose="020B0606030504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Open Sans" panose="020B06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://www.prezentr.com/?utm_source=templates&amp;utm_medium=presentation&amp;utm_campaign=free_downloads_2020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0.png"/><Relationship Id="rId7" Type="http://schemas.openxmlformats.org/officeDocument/2006/relationships/image" Target="../media/image2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28.png"/><Relationship Id="rId9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hlinkClick r:id="rId2"/>
            <a:extLst>
              <a:ext uri="{FF2B5EF4-FFF2-40B4-BE49-F238E27FC236}">
                <a16:creationId xmlns:a16="http://schemas.microsoft.com/office/drawing/2014/main" id="{690A4DCE-900A-874A-B628-D52BB5C182F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s-Latn-BA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Fraud Risk Analysis in Delivery Operations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50474" y="4864209"/>
            <a:ext cx="8023861" cy="648380"/>
          </a:xfrm>
        </p:spPr>
        <p:txBody>
          <a:bodyPr/>
          <a:lstStyle/>
          <a:p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Items &amp; Revenue Loss Investigation</a:t>
            </a:r>
            <a:endParaRPr lang="en-US" b="1" dirty="0">
              <a:solidFill>
                <a:srgbClr val="FDBC3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5DDB8B-469D-9A29-1440-52FF10F7569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2740855" y="911094"/>
            <a:ext cx="6710290" cy="2053883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BC736B87-1A5B-3E6B-0741-F1D35F829547}"/>
              </a:ext>
            </a:extLst>
          </p:cNvPr>
          <p:cNvSpPr txBox="1">
            <a:spLocks/>
          </p:cNvSpPr>
          <p:nvPr/>
        </p:nvSpPr>
        <p:spPr>
          <a:xfrm>
            <a:off x="2084069" y="5831268"/>
            <a:ext cx="8023861" cy="6483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300" kern="12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Analyst: Igor Azevedo de Queiroz</a:t>
            </a:r>
            <a:endParaRPr lang="en-US" b="1" dirty="0">
              <a:solidFill>
                <a:srgbClr val="FDBC3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92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1F0FB-5829-4949-9E35-841A9DF31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093" y="1485918"/>
            <a:ext cx="8573265" cy="2852737"/>
          </a:xfrm>
        </p:spPr>
        <p:txBody>
          <a:bodyPr>
            <a:normAutofit/>
          </a:bodyPr>
          <a:lstStyle/>
          <a:p>
            <a:r>
              <a:rPr lang="en-GB" sz="6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1.Business Understanding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CFCE3B-D4B3-6743-AC05-A671F006A8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2093" y="4563338"/>
            <a:ext cx="9200522" cy="2294662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is the problem?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Who is reporting the issue?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is a solution requested?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to solve the problem?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164CCC-B744-637C-22AE-3A61E548A63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462093" y="2339119"/>
            <a:ext cx="2801816" cy="85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8659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227566" y="275655"/>
            <a:ext cx="11736868" cy="5020621"/>
          </a:xfrm>
        </p:spPr>
        <p:txBody>
          <a:bodyPr wrap="square">
            <a:normAutofit fontScale="25000" lnSpcReduction="20000"/>
          </a:bodyPr>
          <a:lstStyle/>
          <a:p>
            <a:pPr marL="0" indent="0">
              <a:buNone/>
            </a:pPr>
            <a:r>
              <a:rPr lang="en-IE" sz="11200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is the problem ? / Who is reporting the issue?</a:t>
            </a:r>
            <a:endParaRPr lang="en-IE" sz="11200" kern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Walmart customers have reported missing items in deliveries marked as completed. Possible causes include </a:t>
            </a:r>
            <a:r>
              <a:rPr lang="en-US" sz="8800" b="1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 fraud, operational errors, or fraudulent refund claims by customers</a:t>
            </a:r>
            <a:r>
              <a:rPr lang="en-US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r>
              <a:rPr lang="en-US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Walmart operations team have requested the data analyst to </a:t>
            </a:r>
            <a:r>
              <a:rPr lang="en-US" sz="8800" b="1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identify the causes and develop a framework to detect and prevent delivery-related fraud.</a:t>
            </a:r>
            <a:endParaRPr lang="en-IE" sz="8800" kern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/>
            <a:endParaRPr lang="en-IE" sz="7200" kern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E" sz="11200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is a solution requested?</a:t>
            </a:r>
          </a:p>
          <a:p>
            <a:r>
              <a:rPr lang="en-US" sz="8800" b="1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 satisfaction is decreasing </a:t>
            </a:r>
            <a:r>
              <a:rPr lang="en-US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due to missing items in completed deliveries.</a:t>
            </a:r>
          </a:p>
          <a:p>
            <a:r>
              <a:rPr lang="en-US" sz="8800" b="1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Revenue losses are increasing </a:t>
            </a:r>
            <a:r>
              <a:rPr lang="en-US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due to customer refunds related to reported missing items.</a:t>
            </a:r>
          </a:p>
          <a:p>
            <a:pPr marL="0" lvl="0" indent="0">
              <a:buNone/>
            </a:pPr>
            <a:endParaRPr lang="en-US" sz="7200" b="1" kern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/>
            <a:r>
              <a:rPr lang="en-IE" sz="11200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to solve the problem? </a:t>
            </a:r>
          </a:p>
          <a:p>
            <a:r>
              <a:rPr lang="en-US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Proceed with a </a:t>
            </a:r>
            <a:r>
              <a:rPr lang="en-US" sz="8800" b="1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descriptive analysis to identify risk patterns and anomalous behaviors</a:t>
            </a:r>
            <a:r>
              <a:rPr lang="en-US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mainly concerning customers, drivers, and potential system errors, that may indicate fraudulent delivery activities.</a:t>
            </a:r>
          </a:p>
          <a:p>
            <a:r>
              <a:rPr lang="en-US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Develop a </a:t>
            </a:r>
            <a:r>
              <a:rPr lang="en-US" sz="8800" b="1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fraud risk score framework </a:t>
            </a:r>
            <a:r>
              <a:rPr lang="en-US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estimate the likelihood of risk in future deliveries.</a:t>
            </a:r>
          </a:p>
          <a:p>
            <a:pPr marL="0" lvl="0" indent="0">
              <a:buNone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0599713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87EED19-1E99-B3B2-E057-EFA3BCF33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F29CE-6A59-9972-C5E0-3628255C0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092" y="1485918"/>
            <a:ext cx="8573265" cy="2852737"/>
          </a:xfrm>
        </p:spPr>
        <p:txBody>
          <a:bodyPr>
            <a:normAutofit/>
          </a:bodyPr>
          <a:lstStyle/>
          <a:p>
            <a:r>
              <a:rPr lang="en-GB" sz="6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2.Data Understanding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E3B9A8-C477-0682-878A-7EAB5ACFCE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2092" y="4563338"/>
            <a:ext cx="11117289" cy="2294662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dataset is composed of five distinct tables, each operating at a different level of granularity. Understanding these differences is essential to avoid incorrect aggregations and misleading conclusions during the analysis.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4C9A3B-F50F-15A8-F07D-C3E2D9D4A7C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462092" y="2290993"/>
            <a:ext cx="2801816" cy="85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493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26A7C51-DAE0-8A97-A85D-73C4DB21C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91197-E2A7-1403-0ED5-7BFD7BA4DCF4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4180354" y="2864717"/>
            <a:ext cx="2787089" cy="475259"/>
          </a:xfrm>
        </p:spPr>
        <p:txBody>
          <a:bodyPr wrap="square">
            <a:normAutofit lnSpcReduction="10000"/>
          </a:bodyPr>
          <a:lstStyle/>
          <a:p>
            <a:pPr marL="0" indent="0"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Analysed: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88D460E-742E-B9D6-B967-9A3DFDDC5E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6558440"/>
              </p:ext>
            </p:extLst>
          </p:nvPr>
        </p:nvGraphicFramePr>
        <p:xfrm>
          <a:off x="331496" y="239328"/>
          <a:ext cx="5554092" cy="23910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54092">
                  <a:extLst>
                    <a:ext uri="{9D8B030D-6E8A-4147-A177-3AD203B41FA5}">
                      <a16:colId xmlns:a16="http://schemas.microsoft.com/office/drawing/2014/main" val="23488807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8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Datasets: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4713832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Orders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1562921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959679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117168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Products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112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Missing Items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945406677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FBE9155-8E25-A63D-4624-117E9B0153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2917619"/>
              </p:ext>
            </p:extLst>
          </p:nvPr>
        </p:nvGraphicFramePr>
        <p:xfrm>
          <a:off x="5885588" y="239328"/>
          <a:ext cx="5554092" cy="2391029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554092">
                  <a:extLst>
                    <a:ext uri="{9D8B030D-6E8A-4147-A177-3AD203B41FA5}">
                      <a16:colId xmlns:a16="http://schemas.microsoft.com/office/drawing/2014/main" val="23488807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8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Descriptions: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4713832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Delivery transactions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1562921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 characteristics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959679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 profiles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117168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Product details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112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Reported discrepancies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945406677"/>
                  </a:ext>
                </a:extLst>
              </a:tr>
            </a:tbl>
          </a:graphicData>
        </a:graphic>
      </p:graphicFrame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76CDDCF5-D59A-21C0-9C45-B22713D329F7}"/>
              </a:ext>
            </a:extLst>
          </p:cNvPr>
          <p:cNvSpPr txBox="1">
            <a:spLocks/>
          </p:cNvSpPr>
          <p:nvPr/>
        </p:nvSpPr>
        <p:spPr>
          <a:xfrm>
            <a:off x="3308911" y="3332960"/>
            <a:ext cx="2209573" cy="2843251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314 Products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6E39C77F-91E7-881A-DAD9-C25BD76B0E07}"/>
              </a:ext>
            </a:extLst>
          </p:cNvPr>
          <p:cNvSpPr txBox="1">
            <a:spLocks/>
          </p:cNvSpPr>
          <p:nvPr/>
        </p:nvSpPr>
        <p:spPr>
          <a:xfrm>
            <a:off x="5573899" y="3332960"/>
            <a:ext cx="2209573" cy="2843251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1247 Drivers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A2E8F175-9889-0A7A-7398-9083E64B22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8116" y="3518024"/>
            <a:ext cx="1127138" cy="1127138"/>
          </a:xfrm>
          <a:prstGeom prst="rect">
            <a:avLst/>
          </a:prstGeom>
        </p:spPr>
      </p:pic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6C9446F1-4088-8D00-AE47-181206B60D3B}"/>
              </a:ext>
            </a:extLst>
          </p:cNvPr>
          <p:cNvSpPr txBox="1">
            <a:spLocks/>
          </p:cNvSpPr>
          <p:nvPr/>
        </p:nvSpPr>
        <p:spPr>
          <a:xfrm>
            <a:off x="1043923" y="3332960"/>
            <a:ext cx="2209573" cy="2843251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10000 Orders</a:t>
            </a: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0BB6C3D3-2FE6-6563-8D5A-C267BA8919E4}"/>
              </a:ext>
            </a:extLst>
          </p:cNvPr>
          <p:cNvSpPr txBox="1">
            <a:spLocks/>
          </p:cNvSpPr>
          <p:nvPr/>
        </p:nvSpPr>
        <p:spPr>
          <a:xfrm>
            <a:off x="7838887" y="3332960"/>
            <a:ext cx="2620566" cy="2843251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1239 Customers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CAB580CF-C288-6311-5095-ABC3A4C75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497" y="3518023"/>
            <a:ext cx="1127138" cy="1127138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934EFA0D-A779-0CA7-0C6C-966F1000F0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5600" y="3518023"/>
            <a:ext cx="1127139" cy="1127139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3396A625-50FC-1274-5597-EF50F51E16A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5485" y="3518023"/>
            <a:ext cx="1127138" cy="1127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914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C965C51-93F5-4063-C1C7-F41C01782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B794B-EA70-9F21-B373-CC7CEDDBEF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093" y="1240325"/>
            <a:ext cx="9288489" cy="1186010"/>
          </a:xfrm>
        </p:spPr>
        <p:txBody>
          <a:bodyPr>
            <a:normAutofit/>
          </a:bodyPr>
          <a:lstStyle/>
          <a:p>
            <a:r>
              <a:rPr lang="en-GB" sz="6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3.Exploratory Data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8D7867-5D3B-E9CC-B71B-1A2A1920CB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2093" y="2544030"/>
            <a:ext cx="9200522" cy="4313970"/>
          </a:xfrm>
        </p:spPr>
        <p:txBody>
          <a:bodyPr>
            <a:normAutofit fontScale="47500" lnSpcReduction="20000"/>
          </a:bodyPr>
          <a:lstStyle/>
          <a:p>
            <a:r>
              <a:rPr lang="en-US" sz="5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analysis is divided into eight parts.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59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5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Exploratory Data Analysis Methodology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5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Metrics &amp; Dimensions Definition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5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5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Overview (Response Metrics)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5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 Validation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5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Additional Analysis (Operational Monitoring)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5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Integrated Analytical Narrative (H1-H12)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5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 Key Findings</a:t>
            </a:r>
          </a:p>
          <a:p>
            <a:endParaRPr lang="en-US" sz="2800" dirty="0"/>
          </a:p>
          <a:p>
            <a:endParaRPr lang="en-US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949333-5897-9775-9BAE-A56401CA956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462093" y="512772"/>
            <a:ext cx="2801816" cy="85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172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9B7A86A-EBC4-F6DB-D7F8-6C010F006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C43F1-88CE-5D82-3850-4396A69CA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170974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Exploratory Data Analysis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C157C-3CCF-9EED-37BF-3AFBDBA8E9D9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58618" y="990407"/>
            <a:ext cx="10786610" cy="44507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objective is not to classify orders as fraudulent, but to </a:t>
            </a:r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prioritize investigations and preventive actions</a:t>
            </a: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by identifying </a:t>
            </a:r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 patterns and anomalous behaviors</a:t>
            </a: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analysis follows a </a:t>
            </a:r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Fact–Dimension framework</a:t>
            </a: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combining operational, driver, customer, and product data to detect patterns related to missing items.</a:t>
            </a:r>
          </a:p>
          <a:p>
            <a:pPr marL="0" indent="0">
              <a:buNone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lvl="0" indent="0">
              <a:buNone/>
            </a:pPr>
            <a:r>
              <a:rPr lang="en-IE" b="1" kern="1500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Main (Open) Questions</a:t>
            </a:r>
            <a:endParaRPr lang="en-IE" sz="2200" b="1" kern="1500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can delivery-related fraud risk be identified and reduced?</a:t>
            </a:r>
          </a:p>
          <a:p>
            <a:pPr marL="0" indent="0">
              <a:buNone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 there observable patterns in delivery data that indicate higher risk of missing items?</a:t>
            </a:r>
          </a:p>
          <a:p>
            <a:pPr marL="0" indent="0">
              <a:buNone/>
            </a:pPr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94617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6923AEC-3956-4393-4B51-7F0D0FC86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14D7C0-384F-948F-94E0-9F07ED73A485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58619" y="275182"/>
            <a:ext cx="10786610" cy="5998869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Closed Questions</a:t>
            </a:r>
            <a:endParaRPr lang="en-IE" sz="2200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 categories guide the analysis:</a:t>
            </a:r>
          </a:p>
          <a:p>
            <a:pPr marL="0" indent="0">
              <a:buNone/>
            </a:pP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Impact-Level Questions</a:t>
            </a:r>
          </a:p>
          <a:p>
            <a:pPr marL="0" indent="0">
              <a:buNone/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Measure the </a:t>
            </a:r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scale and financial impact </a:t>
            </a: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 missing items.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many items were not delivered?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is the total revenue loss?</a:t>
            </a:r>
          </a:p>
          <a:p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Risk-Oriented Questions</a:t>
            </a:r>
          </a:p>
          <a:p>
            <a:pPr marL="0" indent="0">
              <a:buNone/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Identify </a:t>
            </a:r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 concentration across key dimensions</a:t>
            </a: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certain drivers have higher missing item rates?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 missing reports concentrated among customers?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 some product categories more frequently missing?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certain regions show higher missing rates?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 there a relationship between delivery time and missing items?</a:t>
            </a:r>
          </a:p>
          <a:p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09524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D1C4364-7D48-9A4A-3B6F-9EFA41C83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84304-34E5-FF9A-D3AE-0BFDFD880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239496"/>
            <a:ext cx="9998958" cy="1325563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Metrics &amp; Dimensions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58C62-A8A1-BCB3-25C6-264FD14280AF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21992" y="864495"/>
            <a:ext cx="11184962" cy="60510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Metrics (Core KPIs)</a:t>
            </a:r>
            <a:endParaRPr lang="en-IE" sz="2200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75A452-14F8-E0AC-21EF-3145B3608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3111869"/>
              </p:ext>
            </p:extLst>
          </p:nvPr>
        </p:nvGraphicFramePr>
        <p:xfrm>
          <a:off x="321992" y="1473579"/>
          <a:ext cx="3752067" cy="25877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2067">
                  <a:extLst>
                    <a:ext uri="{9D8B030D-6E8A-4147-A177-3AD203B41FA5}">
                      <a16:colId xmlns:a16="http://schemas.microsoft.com/office/drawing/2014/main" val="23488807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8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Key Metrics: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4713832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18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Missing Items Incidence Rate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156292103"/>
                  </a:ext>
                </a:extLst>
              </a:tr>
              <a:tr h="36413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18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Missing Items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959679918"/>
                  </a:ext>
                </a:extLst>
              </a:tr>
              <a:tr h="625642">
                <a:tc>
                  <a:txBody>
                    <a:bodyPr/>
                    <a:lstStyle/>
                    <a:p>
                      <a:r>
                        <a:rPr lang="en-IE" sz="1800" b="1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Weighted Missing Items Rate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11716896"/>
                  </a:ext>
                </a:extLst>
              </a:tr>
              <a:tr h="37538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18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Revenue Loss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112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800" b="1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Weighted Revenue Loss Rate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94540667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2E92C06-011A-ECA0-03CA-6470352E54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7239635"/>
              </p:ext>
            </p:extLst>
          </p:nvPr>
        </p:nvGraphicFramePr>
        <p:xfrm>
          <a:off x="4042372" y="1469600"/>
          <a:ext cx="7827636" cy="259575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7827636">
                  <a:extLst>
                    <a:ext uri="{9D8B030D-6E8A-4147-A177-3AD203B41FA5}">
                      <a16:colId xmlns:a16="http://schemas.microsoft.com/office/drawing/2014/main" val="23488807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8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Descriptions: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4713832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800" b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Frequency of occurrence - Percentage of order with at least one missing item.</a:t>
                      </a:r>
                      <a:endParaRPr lang="en-US" sz="1800" b="0" kern="1200" dirty="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1562921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800" b="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Error intensity (severity) - </a:t>
                      </a:r>
                      <a:r>
                        <a:rPr lang="en-US" sz="1800" b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number of items missing per order.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959679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800" b="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Real (Operational) Impact - </a:t>
                      </a:r>
                      <a:r>
                        <a:rPr lang="en-IE" sz="1800" b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Missing items relative to the total number of delivered items.</a:t>
                      </a:r>
                      <a:endParaRPr lang="en-US" sz="1800" b="0" kern="1200" dirty="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117168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800" b="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Financial intensity (severity) - </a:t>
                      </a:r>
                      <a:r>
                        <a:rPr lang="en-US" sz="1800" b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revenue loss per order due to missing items.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112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800" b="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Real (Financial) impact - </a:t>
                      </a:r>
                      <a:r>
                        <a:rPr lang="en-IE" sz="1800" b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Revenue loss relative to the total order value.</a:t>
                      </a:r>
                      <a:endParaRPr lang="en-US" sz="1800" b="0" kern="1200" dirty="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945406677"/>
                  </a:ext>
                </a:extLst>
              </a:tr>
            </a:tbl>
          </a:graphicData>
        </a:graphic>
      </p:graphicFrame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1CD7255-A867-BEDB-3FD5-81C79795B1BD}"/>
              </a:ext>
            </a:extLst>
          </p:cNvPr>
          <p:cNvSpPr txBox="1">
            <a:spLocks/>
          </p:cNvSpPr>
          <p:nvPr/>
        </p:nvSpPr>
        <p:spPr>
          <a:xfrm>
            <a:off x="258618" y="4293778"/>
            <a:ext cx="11184962" cy="2127501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E" sz="11200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Supporting Metrics (Proxy Metrics)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sz="4400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IE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Used for </a:t>
            </a:r>
            <a:r>
              <a:rPr lang="en-IE" sz="8800" b="1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context and scale</a:t>
            </a:r>
            <a:r>
              <a:rPr lang="en-IE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but not for direct comparisons due to volume bias.</a:t>
            </a:r>
            <a:endParaRPr lang="en-IE" sz="4400" kern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IE" sz="8800" b="1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Revenue Loss</a:t>
            </a:r>
          </a:p>
          <a:p>
            <a:r>
              <a:rPr lang="en-IE" sz="8800" b="1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Missing Items</a:t>
            </a:r>
          </a:p>
        </p:txBody>
      </p:sp>
    </p:spTree>
    <p:extLst>
      <p:ext uri="{BB962C8B-B14F-4D97-AF65-F5344CB8AC3E}">
        <p14:creationId xmlns:p14="http://schemas.microsoft.com/office/powerpoint/2010/main" val="3636637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8095BAC-B22E-94CC-267F-B4858E0DA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55C309-18B5-A483-9A36-58BC3027C51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21992" y="223773"/>
            <a:ext cx="11184962" cy="60510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Dimensions</a:t>
            </a:r>
            <a:endParaRPr lang="en-IE" sz="2200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2F00F21-539E-6A81-D681-161FD6E1C1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0233" y="828878"/>
            <a:ext cx="7128479" cy="4657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6038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4F0857E-61F9-12D5-026A-2FAFEDC57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F3463-0849-8B1D-1B5E-985688E51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69877"/>
            <a:ext cx="6738345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FD294-72C7-8FD0-C068-0DF597DA8FC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58618" y="808917"/>
            <a:ext cx="10786610" cy="6935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address the research questions and generate actionable insights,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12 hypothesis were tested across five key dimensions using the defined metrics.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7F860BC-BE88-71D4-81FC-30916C8D9DA9}"/>
              </a:ext>
            </a:extLst>
          </p:cNvPr>
          <p:cNvSpPr txBox="1">
            <a:spLocks/>
          </p:cNvSpPr>
          <p:nvPr/>
        </p:nvSpPr>
        <p:spPr>
          <a:xfrm>
            <a:off x="179697" y="1477610"/>
            <a:ext cx="5472226" cy="4507677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64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Seasonality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H1 - Missing item and revenue loss rates increase during </a:t>
            </a:r>
            <a:r>
              <a:rPr lang="en-US" sz="6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night deliveries</a:t>
            </a: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H2 - Missing item and revenue loss rates increase during </a:t>
            </a:r>
            <a:r>
              <a:rPr lang="en-US" sz="6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seasonal peak periods </a:t>
            </a: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(e.g., summer and year-end).</a:t>
            </a:r>
          </a:p>
          <a:p>
            <a:pPr marL="0" indent="0">
              <a:buNone/>
            </a:pP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H3 - Missing item and revenue loss rates are higher on </a:t>
            </a:r>
            <a:r>
              <a:rPr lang="en-US" sz="6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weekends</a:t>
            </a: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64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Location</a:t>
            </a:r>
          </a:p>
          <a:p>
            <a:pPr marL="0" indent="0">
              <a:buNone/>
            </a:pP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H4 - Missing item rates differ across </a:t>
            </a:r>
            <a:r>
              <a:rPr lang="en-US" sz="6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regions</a:t>
            </a: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H5 – The </a:t>
            </a:r>
            <a:r>
              <a:rPr lang="en-US" sz="6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monetary loss per missing item </a:t>
            </a: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varies by region.</a:t>
            </a:r>
          </a:p>
          <a:p>
            <a:pPr marL="0" indent="0">
              <a:buNone/>
            </a:pPr>
            <a:r>
              <a:rPr lang="en-US" sz="64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Products</a:t>
            </a:r>
          </a:p>
          <a:p>
            <a:pPr marL="0" indent="0">
              <a:buNone/>
            </a:pP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H6 - </a:t>
            </a:r>
            <a:r>
              <a:rPr lang="en-US" sz="6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Electronics</a:t>
            </a: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generate disproportionate revenue loss and missing item rate.</a:t>
            </a:r>
          </a:p>
          <a:p>
            <a:pPr marL="0" indent="0">
              <a:buNone/>
            </a:pP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H7 - Missing item frequency and revenue loss are </a:t>
            </a:r>
            <a:r>
              <a:rPr lang="en-US" sz="6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inversely related to product price.</a:t>
            </a:r>
          </a:p>
          <a:p>
            <a:pPr marL="0" indent="0">
              <a:buNone/>
            </a:pP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H8 - Watches and beverages are </a:t>
            </a:r>
            <a:r>
              <a:rPr lang="en-US" sz="6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more frequently reported missing.</a:t>
            </a: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96F3930-2D2D-4C51-8E59-D667F143909E}"/>
              </a:ext>
            </a:extLst>
          </p:cNvPr>
          <p:cNvSpPr txBox="1">
            <a:spLocks/>
          </p:cNvSpPr>
          <p:nvPr/>
        </p:nvSpPr>
        <p:spPr>
          <a:xfrm>
            <a:off x="6096000" y="1502455"/>
            <a:ext cx="5610131" cy="41374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Customers</a:t>
            </a:r>
          </a:p>
          <a:p>
            <a:pPr marL="0" indent="0">
              <a:buNone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H9 - Missing item and revenue loss rates differ across </a:t>
            </a: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 age groups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Drivers</a:t>
            </a:r>
          </a:p>
          <a:p>
            <a:pPr marL="0" indent="0">
              <a:buNone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H10 - Drivers with </a:t>
            </a: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multiple IDs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show higher missing item and revenue loss rates.</a:t>
            </a:r>
          </a:p>
          <a:p>
            <a:pPr marL="0" indent="0">
              <a:buNone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H11 - Missing item and revenue loss rates differ across driver age groups.</a:t>
            </a:r>
          </a:p>
          <a:p>
            <a:pPr marL="0" indent="0">
              <a:buNone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H12 - Missing item and revenue loss rates increase with driver trip volume.</a:t>
            </a:r>
          </a:p>
        </p:txBody>
      </p:sp>
    </p:spTree>
    <p:extLst>
      <p:ext uri="{BB962C8B-B14F-4D97-AF65-F5344CB8AC3E}">
        <p14:creationId xmlns:p14="http://schemas.microsoft.com/office/powerpoint/2010/main" val="11213870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75DAE0C-FF4D-D80F-F27D-92451E807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F2D9F-E4C4-AE07-CADC-9CAF0040F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832" y="-167465"/>
            <a:ext cx="10170974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Overview (Supporting Metrics)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C19ED58-B3B1-2473-F870-AAEAC83BECCF}"/>
              </a:ext>
            </a:extLst>
          </p:cNvPr>
          <p:cNvSpPr txBox="1">
            <a:spLocks/>
          </p:cNvSpPr>
          <p:nvPr/>
        </p:nvSpPr>
        <p:spPr>
          <a:xfrm>
            <a:off x="1480522" y="996984"/>
            <a:ext cx="3137155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Missing Items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CD544FA-7E43-6568-94C2-A9FD65F3BFAD}"/>
              </a:ext>
            </a:extLst>
          </p:cNvPr>
          <p:cNvSpPr txBox="1">
            <a:spLocks/>
          </p:cNvSpPr>
          <p:nvPr/>
        </p:nvSpPr>
        <p:spPr>
          <a:xfrm>
            <a:off x="6240765" y="972105"/>
            <a:ext cx="3137155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Revenue Loss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02BAF7E-2234-8E3B-C9CC-C4A9FDBD9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397" y="1439817"/>
            <a:ext cx="1095890" cy="109589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393FACE-B4D4-4980-BD73-F2CD5E6F24E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1155" y="1439817"/>
            <a:ext cx="1095890" cy="109589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2B029E01-4473-3100-FAA6-5BF85D2326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190" y="2535707"/>
            <a:ext cx="4288086" cy="3034969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05AC8ED0-4BB1-AEB5-8FC7-493115EF7FD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1277" y="2535707"/>
            <a:ext cx="5856133" cy="2703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4055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B5ACA15-338E-AEB7-7C1C-E13C1EA4C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8D30B-DAD7-F7B3-2298-06FCC1193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832" y="-167465"/>
            <a:ext cx="10170974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 Validation - </a:t>
            </a:r>
            <a:r>
              <a:rPr lang="en-US" dirty="0">
                <a:solidFill>
                  <a:srgbClr val="FDBC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Seasonality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A4DA74C-7FE4-A558-BB78-14D034C934E3}"/>
              </a:ext>
            </a:extLst>
          </p:cNvPr>
          <p:cNvSpPr txBox="1">
            <a:spLocks/>
          </p:cNvSpPr>
          <p:nvPr/>
        </p:nvSpPr>
        <p:spPr>
          <a:xfrm>
            <a:off x="294832" y="748388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H1 - Missing item and revenue loss rates increase during night deliveries.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5AFF5B3-B51A-530A-8984-6A9DBFA57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" y="1126553"/>
            <a:ext cx="11725717" cy="2833210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3FAD5B7-2ACB-24FE-A657-8818B6CDA18E}"/>
              </a:ext>
            </a:extLst>
          </p:cNvPr>
          <p:cNvSpPr txBox="1">
            <a:spLocks/>
          </p:cNvSpPr>
          <p:nvPr/>
        </p:nvSpPr>
        <p:spPr>
          <a:xfrm>
            <a:off x="171450" y="3867765"/>
            <a:ext cx="11166978" cy="2772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not supported.</a:t>
            </a:r>
          </a:p>
          <a:p>
            <a:pPr marL="0" indent="0">
              <a:buNone/>
            </a:pP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Morning deliveries show higher missing items and revenue loss frequency and dispersion,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indicating greater operational instability and potential fraud exposure.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Missing Items Incidence: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Morning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16.1%	        </a:t>
            </a:r>
            <a:r>
              <a:rPr lang="en-IE" sz="1800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Revenue Loss: </a:t>
            </a:r>
            <a:r>
              <a:rPr lang="en-IE" sz="1800" b="1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Morning</a:t>
            </a:r>
            <a:r>
              <a:rPr lang="en-IE" sz="1800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15.88%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Average Missing Items: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Morning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17.7%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        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Weighted Revenue Loss Rate: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Morning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5.67%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Missing Items Rate: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Morning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1.77%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5400997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D744A47-3321-552C-6B70-ED8242D72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D67280F-3F3C-A5DE-85AA-DA0DD7961C8C}"/>
              </a:ext>
            </a:extLst>
          </p:cNvPr>
          <p:cNvSpPr txBox="1">
            <a:spLocks/>
          </p:cNvSpPr>
          <p:nvPr/>
        </p:nvSpPr>
        <p:spPr>
          <a:xfrm>
            <a:off x="219076" y="168070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H2 - </a:t>
            </a:r>
            <a:r>
              <a:rPr lang="en-US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 and revenue loss rates increase during seasonal peak periods (e.g., summer and year-end).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8BAB522-127B-1D14-ECC1-C31E09500DE2}"/>
              </a:ext>
            </a:extLst>
          </p:cNvPr>
          <p:cNvSpPr txBox="1">
            <a:spLocks/>
          </p:cNvSpPr>
          <p:nvPr/>
        </p:nvSpPr>
        <p:spPr>
          <a:xfrm>
            <a:off x="85726" y="3815542"/>
            <a:ext cx="11166978" cy="2772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not supported.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Seasonal peak periods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not significantly increase operational or financial risk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Missing Items Incidence: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May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16.99%		</a:t>
            </a:r>
            <a:r>
              <a:rPr lang="en-IE" sz="1800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Revenue Loss: </a:t>
            </a:r>
            <a:r>
              <a:rPr lang="en-IE" sz="1800" b="1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March</a:t>
            </a:r>
            <a:r>
              <a:rPr lang="en-IE" sz="1800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19.76%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Average Missing Items: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May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18.43%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Highest Weighted Revenue Loss Rate: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March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6.95%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Missing Items Rate: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August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1.86%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0DDA74-81A3-275D-7E72-580BA15E9F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6" y="734682"/>
            <a:ext cx="11887198" cy="3080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80844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E17A32E-5B27-5A93-01A5-9C5906EAC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31992A8-DBD0-6F76-1943-36D2A26F5CFC}"/>
              </a:ext>
            </a:extLst>
          </p:cNvPr>
          <p:cNvSpPr txBox="1">
            <a:spLocks/>
          </p:cNvSpPr>
          <p:nvPr/>
        </p:nvSpPr>
        <p:spPr>
          <a:xfrm>
            <a:off x="219076" y="168070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H3 - Missing item and revenue loss rates are higher on weekends.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A2D55-D71B-FA7A-0347-18EA7B8D6F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090" y="562482"/>
            <a:ext cx="9886949" cy="2866518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1B3927A-339F-6B91-D101-36DE04485F8C}"/>
              </a:ext>
            </a:extLst>
          </p:cNvPr>
          <p:cNvSpPr txBox="1">
            <a:spLocks/>
          </p:cNvSpPr>
          <p:nvPr/>
        </p:nvSpPr>
        <p:spPr>
          <a:xfrm>
            <a:off x="104776" y="3605992"/>
            <a:ext cx="11166978" cy="2772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not supported.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risk appears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more concentrated at the beginning of the week rather than during weekends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although Saturday still represents a relevant risk window.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Missing Items Incidence: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Monday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16.08%	</a:t>
            </a:r>
            <a:r>
              <a:rPr lang="en-IE" sz="1800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Revenue Loss: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Monday</a:t>
            </a:r>
            <a:r>
              <a:rPr lang="en-IE" sz="1800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19.96%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Average Missing Items: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Monday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17.83%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Highest Weighted Revenue Loss Rate: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Monday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7.08%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Missing Items Rate: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Monday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1.82%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223932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C2A7F0D-0BE2-CAC2-ED57-79BE4E695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BBEDD-1947-2B69-4517-5923C40DD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832" y="-167465"/>
            <a:ext cx="10170974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 Validation - </a:t>
            </a:r>
            <a:r>
              <a:rPr lang="en-US" dirty="0">
                <a:solidFill>
                  <a:srgbClr val="FDBC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Location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083D1F4-AB9D-A179-A2BA-4513B049906B}"/>
              </a:ext>
            </a:extLst>
          </p:cNvPr>
          <p:cNvSpPr txBox="1">
            <a:spLocks/>
          </p:cNvSpPr>
          <p:nvPr/>
        </p:nvSpPr>
        <p:spPr>
          <a:xfrm>
            <a:off x="294832" y="748388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H4 - Missing item rates differ across regions</a:t>
            </a:r>
            <a:r>
              <a:rPr lang="en-US" sz="24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D55E9760-F486-7041-0509-1970C2626AD0}"/>
              </a:ext>
            </a:extLst>
          </p:cNvPr>
          <p:cNvSpPr txBox="1">
            <a:spLocks/>
          </p:cNvSpPr>
          <p:nvPr/>
        </p:nvSpPr>
        <p:spPr>
          <a:xfrm>
            <a:off x="7239000" y="1158098"/>
            <a:ext cx="4772025" cy="17566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partially supported (Weak-to-Moderate Evidence).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Regional variation exists, but differences are moderate (range: 1.53% – 1.79%).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region shows extreme or abnormal behaviour.</a:t>
            </a:r>
            <a:endParaRPr lang="en-I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F02B5F-A249-23E0-C7E0-0862E0184A57}"/>
              </a:ext>
            </a:extLst>
          </p:cNvPr>
          <p:cNvSpPr txBox="1"/>
          <p:nvPr/>
        </p:nvSpPr>
        <p:spPr>
          <a:xfrm>
            <a:off x="7239000" y="2724265"/>
            <a:ext cx="38671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Risk Region: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Altamonte Springs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Incidence: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16.20%	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Missing Items: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17.74%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Missing Items Rate: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1.79%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27F707-A394-815A-7DDD-64DD240CFFC6}"/>
              </a:ext>
            </a:extLst>
          </p:cNvPr>
          <p:cNvSpPr txBox="1"/>
          <p:nvPr/>
        </p:nvSpPr>
        <p:spPr>
          <a:xfrm>
            <a:off x="7239000" y="4050048"/>
            <a:ext cx="38671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Lowest Risk Region: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Kissimmee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Incidence: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14.36%	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Missing Items: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15.41%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Missing Items Rate: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1.52%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4DD9B48-B6E3-A26C-7B27-3F1669A15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832" y="1158098"/>
            <a:ext cx="6944168" cy="4559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6956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01B6420-0BE2-EEBE-A847-693ED85AA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ABE8971-A298-8F95-BAD2-C08B6C7280B8}"/>
              </a:ext>
            </a:extLst>
          </p:cNvPr>
          <p:cNvSpPr txBox="1">
            <a:spLocks/>
          </p:cNvSpPr>
          <p:nvPr/>
        </p:nvSpPr>
        <p:spPr>
          <a:xfrm>
            <a:off x="245991" y="234217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H5 - The average monetary loss per missing item varies by region.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2361B41-8651-26C0-F8FE-037F78E0F708}"/>
              </a:ext>
            </a:extLst>
          </p:cNvPr>
          <p:cNvSpPr txBox="1">
            <a:spLocks/>
          </p:cNvSpPr>
          <p:nvPr/>
        </p:nvSpPr>
        <p:spPr>
          <a:xfrm>
            <a:off x="7629869" y="800829"/>
            <a:ext cx="4316140" cy="19423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supported.</a:t>
            </a:r>
          </a:p>
          <a:p>
            <a:pPr marL="0" indent="0">
              <a:buNone/>
            </a:pP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Revenue loss per missing item varies significantly by region.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Orlando shows the highest financial impact about 55% higher than Sanford, indicating a higher concentration of high-value missing products.</a:t>
            </a:r>
          </a:p>
          <a:p>
            <a:pPr marL="0" indent="0">
              <a:buNone/>
            </a:pP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A34CD2-F51D-770A-9418-5B6558C9B1DA}"/>
              </a:ext>
            </a:extLst>
          </p:cNvPr>
          <p:cNvSpPr txBox="1"/>
          <p:nvPr/>
        </p:nvSpPr>
        <p:spPr>
          <a:xfrm>
            <a:off x="7629869" y="3001634"/>
            <a:ext cx="38671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Risk Region: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Orlando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Revenue Loss: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19.49%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Revenue Loss Rate: </a:t>
            </a:r>
            <a:r>
              <a:rPr lang="en-IE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.89%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16E036-BF20-7A52-DECD-5DC9913CD6FA}"/>
              </a:ext>
            </a:extLst>
          </p:cNvPr>
          <p:cNvSpPr txBox="1"/>
          <p:nvPr/>
        </p:nvSpPr>
        <p:spPr>
          <a:xfrm>
            <a:off x="7629869" y="4030998"/>
            <a:ext cx="38671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Lowest Risk Region: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Sanford</a:t>
            </a:r>
            <a:endParaRPr lang="en-IE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Revenue Loss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12.56%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</a:t>
            </a:r>
            <a:r>
              <a:rPr lang="en-IE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Revenue Loss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Rate: </a:t>
            </a:r>
            <a:r>
              <a:rPr lang="en-IE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.36%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57F9C70-9A8B-7940-19F1-A524DC5FE5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19" y="609600"/>
            <a:ext cx="7400750" cy="5095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0440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6E7956A-8938-5E09-5511-40D926E01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02631-6EC3-2FCE-9C0E-372B2D324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832" y="-167465"/>
            <a:ext cx="10170974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 Validation - </a:t>
            </a:r>
            <a:r>
              <a:rPr lang="en-US" dirty="0">
                <a:solidFill>
                  <a:srgbClr val="FDBC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B36BD08-7FE0-BEFB-A3F6-B22D8B77C998}"/>
              </a:ext>
            </a:extLst>
          </p:cNvPr>
          <p:cNvSpPr txBox="1">
            <a:spLocks/>
          </p:cNvSpPr>
          <p:nvPr/>
        </p:nvSpPr>
        <p:spPr>
          <a:xfrm>
            <a:off x="294832" y="748388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H6 - Electronics generate disproportionate revenue loss and missing item rate.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0C5EF95-E6FF-CED5-49A0-659CCD26C4FC}"/>
              </a:ext>
            </a:extLst>
          </p:cNvPr>
          <p:cNvSpPr txBox="1">
            <a:spLocks/>
          </p:cNvSpPr>
          <p:nvPr/>
        </p:nvSpPr>
        <p:spPr>
          <a:xfrm>
            <a:off x="171450" y="3775058"/>
            <a:ext cx="11725718" cy="92333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partially supported (supported for Revenue Loss, not supported for Missing Items).</a:t>
            </a:r>
          </a:p>
          <a:p>
            <a:pPr marL="0" indent="0">
              <a:buNone/>
            </a:pP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issues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 concentrated in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supermarket items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but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electronics represent the largest financial risk per incident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lv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	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EC574D-4339-60F1-464A-A5F63AE83FED}"/>
              </a:ext>
            </a:extLst>
          </p:cNvPr>
          <p:cNvSpPr txBox="1"/>
          <p:nvPr/>
        </p:nvSpPr>
        <p:spPr>
          <a:xfrm>
            <a:off x="4743450" y="4496768"/>
            <a:ext cx="663892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However, electronics generate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~5× higher total revenue loss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Electronics Revenue Loss average 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$496.53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while 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Supermarket revenue loss average is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$20.35.</a:t>
            </a:r>
            <a:endParaRPr lang="en-I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Electronics missing events are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24x more financially                severe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Business implication.</a:t>
            </a:r>
            <a:endParaRPr lang="en-I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9C4A9C-E969-35FB-1C4E-3D0720B26847}"/>
              </a:ext>
            </a:extLst>
          </p:cNvPr>
          <p:cNvSpPr txBox="1"/>
          <p:nvPr/>
        </p:nvSpPr>
        <p:spPr>
          <a:xfrm>
            <a:off x="171450" y="4496768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Supermarket items account for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83.8% of missing items.</a:t>
            </a:r>
            <a:endParaRPr lang="en-I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Electronics represent only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16.2% of missing items incidents.</a:t>
            </a:r>
            <a:endParaRPr lang="en-I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2F5D8B2-911A-53FE-75C8-2F705F7FC6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1" y="1057656"/>
            <a:ext cx="11725718" cy="2569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3624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81F7B4E-2EC6-D52E-D923-9BCE26187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6FCF41F-A6A3-46B9-A9E2-F6EDE3CFC11D}"/>
              </a:ext>
            </a:extLst>
          </p:cNvPr>
          <p:cNvSpPr txBox="1">
            <a:spLocks/>
          </p:cNvSpPr>
          <p:nvPr/>
        </p:nvSpPr>
        <p:spPr>
          <a:xfrm>
            <a:off x="219076" y="168070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H7 - Missing item frequency and revenue loss are inversely related to product price.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E700BBE-82AE-A90A-A4CF-1A3D54652D23}"/>
              </a:ext>
            </a:extLst>
          </p:cNvPr>
          <p:cNvSpPr txBox="1">
            <a:spLocks/>
          </p:cNvSpPr>
          <p:nvPr/>
        </p:nvSpPr>
        <p:spPr>
          <a:xfrm>
            <a:off x="1251171" y="3429000"/>
            <a:ext cx="11062203" cy="2772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partially supported (not supported for Revenue Loss, supported for Missing Items).</a:t>
            </a:r>
          </a:p>
          <a:p>
            <a:pPr marL="0" indent="0">
              <a:buNone/>
            </a:pP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Low-price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products drive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volume risk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while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high-price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products drive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financial risk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missing items share rate occurs in low price ($10–25) products (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50% of missing items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Very low-price products ($0–10) also show elevated missing items share rates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(34% of missing items)</a:t>
            </a:r>
          </a:p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Premium products generate the largest revenue loss with revenue loss average of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$584.01,                           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followed by very high products with revenue loss average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of $213.98</a:t>
            </a:r>
          </a:p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 price products generate the highest total loss due to order volume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$20,454,5600</a:t>
            </a:r>
          </a:p>
          <a:p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High-value items create higher financial exposure per incident	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0B159-434B-B09F-2813-85BB49E844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76" y="562208"/>
            <a:ext cx="11753847" cy="2772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5261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3F2E098-9E2B-E163-14A1-6E38F9CBB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04AF070-3809-5F27-F46D-20D91CFBFA3E}"/>
              </a:ext>
            </a:extLst>
          </p:cNvPr>
          <p:cNvSpPr txBox="1">
            <a:spLocks/>
          </p:cNvSpPr>
          <p:nvPr/>
        </p:nvSpPr>
        <p:spPr>
          <a:xfrm>
            <a:off x="219076" y="168070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H8 - Watches and beverages are more frequently reported missing. </a:t>
            </a:r>
          </a:p>
          <a:p>
            <a:pPr marL="0" indent="0"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E729042-1B69-4AF1-FC5E-5FF36E9E153C}"/>
              </a:ext>
            </a:extLst>
          </p:cNvPr>
          <p:cNvSpPr txBox="1">
            <a:spLocks/>
          </p:cNvSpPr>
          <p:nvPr/>
        </p:nvSpPr>
        <p:spPr>
          <a:xfrm>
            <a:off x="7658100" y="685232"/>
            <a:ext cx="4314824" cy="49665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not supported.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 patterns appear to be driven more by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high-demand products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rather than specific product types such as watches or beverages.</a:t>
            </a:r>
          </a:p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Electronics missing items are mainly:</a:t>
            </a:r>
          </a:p>
          <a:p>
            <a:pPr lvl="0"/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Earbuds</a:t>
            </a:r>
          </a:p>
          <a:p>
            <a:pPr lvl="0"/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Computer accessories</a:t>
            </a:r>
          </a:p>
          <a:p>
            <a:pPr lvl="0"/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Consumer electronics devices</a:t>
            </a:r>
          </a:p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Supermarket missing items are mainly:</a:t>
            </a:r>
          </a:p>
          <a:p>
            <a:pPr lvl="0"/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Meat and protein products</a:t>
            </a:r>
          </a:p>
          <a:p>
            <a:pPr lvl="0"/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Dairy items</a:t>
            </a:r>
          </a:p>
          <a:p>
            <a:pPr lvl="0"/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Pantry staples</a:t>
            </a:r>
          </a:p>
          <a:p>
            <a:pPr marL="0" indent="0">
              <a:buNone/>
            </a:pP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B943921-8AEE-49A2-98C3-16A2F3050A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6406397"/>
              </p:ext>
            </p:extLst>
          </p:nvPr>
        </p:nvGraphicFramePr>
        <p:xfrm>
          <a:off x="2424301" y="1082200"/>
          <a:ext cx="1265654" cy="407924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265654">
                  <a:extLst>
                    <a:ext uri="{9D8B030D-6E8A-4147-A177-3AD203B41FA5}">
                      <a16:colId xmlns:a16="http://schemas.microsoft.com/office/drawing/2014/main" val="3260488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# of Products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7006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7388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5726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0657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90901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36584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373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086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2470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0442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346364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F6E1D56-E9FA-BFF7-D063-2750422523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105309"/>
              </p:ext>
            </p:extLst>
          </p:nvPr>
        </p:nvGraphicFramePr>
        <p:xfrm>
          <a:off x="148619" y="1082200"/>
          <a:ext cx="2263775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3775">
                  <a:extLst>
                    <a:ext uri="{9D8B030D-6E8A-4147-A177-3AD203B41FA5}">
                      <a16:colId xmlns:a16="http://schemas.microsoft.com/office/drawing/2014/main" val="3260488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Product 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7006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Bose QuietComfort Earbuds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837388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Logitech Mouse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535726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Dell XPS 13</a:t>
                      </a:r>
                      <a:endParaRPr lang="en-IE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0657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Beats Studio Pro Headphone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8390901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Nest Thermostat</a:t>
                      </a:r>
                      <a:endParaRPr lang="en-IE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36584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Dyson V11 Vacuum</a:t>
                      </a:r>
                      <a:endParaRPr lang="en-IE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373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JBL Flip Speaker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83086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HP Envy Printer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342470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Roku Ultra Streaming Device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730442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Panasonic Lumix Camera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15346364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E22F0636-4C82-2E2C-2E75-66C9F35D73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8292244"/>
              </p:ext>
            </p:extLst>
          </p:nvPr>
        </p:nvGraphicFramePr>
        <p:xfrm>
          <a:off x="3832225" y="1082200"/>
          <a:ext cx="2333625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3625">
                  <a:extLst>
                    <a:ext uri="{9D8B030D-6E8A-4147-A177-3AD203B41FA5}">
                      <a16:colId xmlns:a16="http://schemas.microsoft.com/office/drawing/2014/main" val="3260488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Product 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7006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Chicken Breast</a:t>
                      </a:r>
                      <a:endParaRPr lang="en-IE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7388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Ground Coffee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535726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Cheddar Cheese</a:t>
                      </a:r>
                      <a:endParaRPr lang="en-IE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0657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Frozen Shrimp</a:t>
                      </a:r>
                      <a:endParaRPr lang="en-IE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90901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Uncured Bacon</a:t>
                      </a:r>
                      <a:endParaRPr lang="en-IE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36584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Peanut Butter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754373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Canned Tuna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83086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Rice Cakes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342470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Turkey Burgers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730442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Broccoli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1534636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83F77C1A-CE99-6A38-D2FF-A1327AE206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6112892"/>
              </p:ext>
            </p:extLst>
          </p:nvPr>
        </p:nvGraphicFramePr>
        <p:xfrm>
          <a:off x="6165850" y="1082200"/>
          <a:ext cx="1397000" cy="407924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3260488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# of Products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7006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7388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535726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0657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90901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36584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17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754373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17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83086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342470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730442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15346364"/>
                  </a:ext>
                </a:extLst>
              </a:tr>
            </a:tbl>
          </a:graphicData>
        </a:graphic>
      </p:graphicFrame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4728978D-2E53-B980-9E57-0F8DEC10EA9C}"/>
              </a:ext>
            </a:extLst>
          </p:cNvPr>
          <p:cNvSpPr txBox="1">
            <a:spLocks/>
          </p:cNvSpPr>
          <p:nvPr/>
        </p:nvSpPr>
        <p:spPr>
          <a:xfrm>
            <a:off x="148619" y="685232"/>
            <a:ext cx="3541336" cy="4464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Items Missing by Electronics Products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597BAC30-D643-4163-BBB8-8325111DF911}"/>
              </a:ext>
            </a:extLst>
          </p:cNvPr>
          <p:cNvSpPr txBox="1">
            <a:spLocks/>
          </p:cNvSpPr>
          <p:nvPr/>
        </p:nvSpPr>
        <p:spPr>
          <a:xfrm>
            <a:off x="3832225" y="685232"/>
            <a:ext cx="3730625" cy="4464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Items Missing by Supermarket Products</a:t>
            </a:r>
          </a:p>
        </p:txBody>
      </p:sp>
    </p:spTree>
    <p:extLst>
      <p:ext uri="{BB962C8B-B14F-4D97-AF65-F5344CB8AC3E}">
        <p14:creationId xmlns:p14="http://schemas.microsoft.com/office/powerpoint/2010/main" val="25320259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1962B39-5CF2-36CD-1A9D-AD061B271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BBD1A-D9BF-0105-F401-53368A1BD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832" y="-167465"/>
            <a:ext cx="10170974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 Validation - </a:t>
            </a:r>
            <a:r>
              <a:rPr lang="en-US" dirty="0">
                <a:solidFill>
                  <a:srgbClr val="FDBC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86E32CC-AFE4-044B-FDCF-25F7BBB1688E}"/>
              </a:ext>
            </a:extLst>
          </p:cNvPr>
          <p:cNvSpPr txBox="1">
            <a:spLocks/>
          </p:cNvSpPr>
          <p:nvPr/>
        </p:nvSpPr>
        <p:spPr>
          <a:xfrm>
            <a:off x="294832" y="748388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H9 - Missing item and revenue loss rates differ across customer age groups.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141375D-F69C-9A2F-4C30-2DD6A06ED8E7}"/>
              </a:ext>
            </a:extLst>
          </p:cNvPr>
          <p:cNvSpPr txBox="1">
            <a:spLocks/>
          </p:cNvSpPr>
          <p:nvPr/>
        </p:nvSpPr>
        <p:spPr>
          <a:xfrm>
            <a:off x="171450" y="3775058"/>
            <a:ext cx="11725718" cy="92333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weakly/partially supported.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 age segments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impact the financial consequences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 missing items, however, it has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minimal impact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 missing items rate,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suggesting that operational issues are evenly distributed across customer segments.</a:t>
            </a:r>
            <a:endParaRPr lang="en-I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lv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	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9F34BA-5665-243D-94C5-55A72A3A05AB}"/>
              </a:ext>
            </a:extLst>
          </p:cNvPr>
          <p:cNvSpPr txBox="1"/>
          <p:nvPr/>
        </p:nvSpPr>
        <p:spPr>
          <a:xfrm>
            <a:off x="5289784" y="4698388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Adults show the highest </a:t>
            </a:r>
            <a:r>
              <a:rPr lang="en-IE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revenue loss rate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(6.56%)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Middle-aged customers show the lowest loss                     rate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(4.70%)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Seniors generate the highest total loss                                   due to order volume                                                                     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$ 59,475,2200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D442F8-B8BD-FB14-B702-31FF417C7236}"/>
              </a:ext>
            </a:extLst>
          </p:cNvPr>
          <p:cNvSpPr txBox="1"/>
          <p:nvPr/>
        </p:nvSpPr>
        <p:spPr>
          <a:xfrm>
            <a:off x="1994" y="4722965"/>
            <a:ext cx="52877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m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issing items rates range from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1.59% to 1.73%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Adults show the highest rate</a:t>
            </a:r>
            <a:endParaRPr lang="en-IE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Middle-aged customers show the lowest rate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9D3DB7-C52F-F313-0819-0FFE03D28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1" y="1080455"/>
            <a:ext cx="11725717" cy="2615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5688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CCE8EBF-7819-F1DD-8280-F7B1A7CD6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4FCDA-3E18-F981-B73A-FD09B6B105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832" y="-167465"/>
            <a:ext cx="10170974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 Validation - </a:t>
            </a:r>
            <a:r>
              <a:rPr lang="en-US" dirty="0">
                <a:solidFill>
                  <a:srgbClr val="FDBC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2DD01E2-A9E6-6CF4-E021-365E6C6139E0}"/>
              </a:ext>
            </a:extLst>
          </p:cNvPr>
          <p:cNvSpPr txBox="1">
            <a:spLocks/>
          </p:cNvSpPr>
          <p:nvPr/>
        </p:nvSpPr>
        <p:spPr>
          <a:xfrm>
            <a:off x="294832" y="748388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H10 - Drivers with multiple IDs show higher missing item and revenue loss rates.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1887DEE-0204-A6BA-3FA2-8C86F63EC46E}"/>
              </a:ext>
            </a:extLst>
          </p:cNvPr>
          <p:cNvSpPr txBox="1">
            <a:spLocks/>
          </p:cNvSpPr>
          <p:nvPr/>
        </p:nvSpPr>
        <p:spPr>
          <a:xfrm>
            <a:off x="5286506" y="1263045"/>
            <a:ext cx="6734044" cy="12056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supported (but with limited evidence.).</a:t>
            </a:r>
          </a:p>
          <a:p>
            <a:pPr marL="0" indent="0">
              <a:buNone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Drivers associated with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multiple IDs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exhibit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higher missing item rates and higher revenue loss rates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compared to drivers operating under a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single ID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lv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	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8BA15C-7C5A-0705-D71C-1D74F0D331FB}"/>
              </a:ext>
            </a:extLst>
          </p:cNvPr>
          <p:cNvSpPr txBox="1"/>
          <p:nvPr/>
        </p:nvSpPr>
        <p:spPr>
          <a:xfrm>
            <a:off x="5286505" y="2625625"/>
            <a:ext cx="647394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missing items rate is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76% higher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among multi-ID drivers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Missing Items Rate: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26.32% vs 14.93%</a:t>
            </a:r>
            <a:endParaRPr lang="en-I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revenue loss rate is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49% higher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among multi-ID drivers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Revenue Loss Rate: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7.82% vs 5.25%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Indicates potential operational risk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A6F975-207C-ED64-30DC-1DC81D631A00}"/>
              </a:ext>
            </a:extLst>
          </p:cNvPr>
          <p:cNvSpPr txBox="1"/>
          <p:nvPr/>
        </p:nvSpPr>
        <p:spPr>
          <a:xfrm>
            <a:off x="5286505" y="4259416"/>
            <a:ext cx="481056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Multi-ID group represents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very small sample size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Orders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9924 vs 76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b="1" dirty="0"/>
              <a:t>statistical reliability of the comparison is limited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Further investigation with a larger     sample is necessary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BC93CA-9711-E930-AF1E-EB43E627B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09" y="1158098"/>
            <a:ext cx="4810568" cy="4627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5825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1F00AD3-CD76-4DC1-7B86-5BBA6F70A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3559685-A076-CBD9-A522-028DA2730D43}"/>
              </a:ext>
            </a:extLst>
          </p:cNvPr>
          <p:cNvSpPr txBox="1">
            <a:spLocks/>
          </p:cNvSpPr>
          <p:nvPr/>
        </p:nvSpPr>
        <p:spPr>
          <a:xfrm>
            <a:off x="219076" y="168070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H11 - Missing item and revenue loss rates differ across driver age groups.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0FB9B0-8F7C-D968-2080-D558279902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76" y="556996"/>
            <a:ext cx="11753847" cy="287200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F6E1AE-CDA8-B025-EECE-3B3882A38115}"/>
              </a:ext>
            </a:extLst>
          </p:cNvPr>
          <p:cNvSpPr txBox="1">
            <a:spLocks/>
          </p:cNvSpPr>
          <p:nvPr/>
        </p:nvSpPr>
        <p:spPr>
          <a:xfrm>
            <a:off x="171450" y="3775058"/>
            <a:ext cx="11725718" cy="92333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supported.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Drivers age may influence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rates slightly, but differences remain relatively small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however,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revenue loss rates show stronger variation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across groups,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potentially reflecting differences in workload, route complexity, or operational behavior.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	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6A9A1D-51B6-9188-A432-E6B83594D903}"/>
              </a:ext>
            </a:extLst>
          </p:cNvPr>
          <p:cNvSpPr txBox="1"/>
          <p:nvPr/>
        </p:nvSpPr>
        <p:spPr>
          <a:xfrm>
            <a:off x="5190196" y="4732018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revenue loss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rates range from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8.24% to 3.35%</a:t>
            </a:r>
            <a:endParaRPr lang="en-I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Adults show the highest</a:t>
            </a:r>
            <a:r>
              <a:rPr lang="en-IE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rate</a:t>
            </a:r>
            <a:endParaRPr lang="en-IE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Younger drivers show the lowest rate</a:t>
            </a:r>
            <a:endParaRPr lang="en-IE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7E4798-36C1-612E-C29B-AD00F2DF6A93}"/>
              </a:ext>
            </a:extLst>
          </p:cNvPr>
          <p:cNvSpPr txBox="1"/>
          <p:nvPr/>
        </p:nvSpPr>
        <p:spPr>
          <a:xfrm>
            <a:off x="0" y="4732018"/>
            <a:ext cx="52877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m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issing items rates range from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1.88% to 1.49%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Senior show the highest rate</a:t>
            </a:r>
            <a:endParaRPr lang="en-IE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Younger drivers show the lowest rate</a:t>
            </a:r>
          </a:p>
        </p:txBody>
      </p:sp>
    </p:spTree>
    <p:extLst>
      <p:ext uri="{BB962C8B-B14F-4D97-AF65-F5344CB8AC3E}">
        <p14:creationId xmlns:p14="http://schemas.microsoft.com/office/powerpoint/2010/main" val="29031536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CA2236B-1997-A602-32FE-9FE82AEDC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8C79063-9765-E583-E609-4F8769E98C5B}"/>
              </a:ext>
            </a:extLst>
          </p:cNvPr>
          <p:cNvSpPr txBox="1">
            <a:spLocks/>
          </p:cNvSpPr>
          <p:nvPr/>
        </p:nvSpPr>
        <p:spPr>
          <a:xfrm>
            <a:off x="219076" y="168070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H12 - Missing item and revenue loss rates increase with driver trip volume.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240E6A-6025-4754-400E-9BDAF1B7D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76" y="615778"/>
            <a:ext cx="11753848" cy="291248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5240526-AD8D-8494-A67F-C4FAF59D00BE}"/>
              </a:ext>
            </a:extLst>
          </p:cNvPr>
          <p:cNvSpPr txBox="1">
            <a:spLocks/>
          </p:cNvSpPr>
          <p:nvPr/>
        </p:nvSpPr>
        <p:spPr>
          <a:xfrm>
            <a:off x="406003" y="3528262"/>
            <a:ext cx="10029447" cy="2772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not supported.</a:t>
            </a:r>
          </a:p>
          <a:p>
            <a:pPr marL="0" indent="0">
              <a:buNone/>
            </a:pP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Medium-volume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drivers show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highest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 rates, while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high-volume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drivers show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lowest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— suggesting experience effect,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where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highly active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drivers develop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familiarity that reduces fulfilment errors.</a:t>
            </a:r>
            <a:endParaRPr lang="en-US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weighted missing items rate occurs in medium (25-41) trips (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1.89%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revenue loss rate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decreases as trip volume increases (Low 5.82% - Very High 4.53%)</a:t>
            </a:r>
          </a:p>
          <a:p>
            <a:pPr marL="0" indent="0">
              <a:buNone/>
            </a:pP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63436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FD4DA22-A08D-F1D1-AD89-09342F4AA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4A39A-B1E1-2019-FB35-A9301EC11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614594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Additional Analysis (Operational Monitoring)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95E53-B317-5702-9597-6F6557355B49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21992" y="1203637"/>
            <a:ext cx="10786610" cy="44004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following analysis highlights the </a:t>
            </a:r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 15 customers and drivers with highest number of:</a:t>
            </a:r>
          </a:p>
          <a:p>
            <a:pPr marL="0" indent="0">
              <a:buNone/>
            </a:pPr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Items reported</a:t>
            </a:r>
          </a:p>
          <a:p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Revenue loss generated</a:t>
            </a:r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While not used for hypothesis validation, this analysis supports:</a:t>
            </a:r>
          </a:p>
          <a:p>
            <a:pPr marL="0" indent="0">
              <a:buNone/>
            </a:pPr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Fraud alert identification</a:t>
            </a:r>
          </a:p>
          <a:p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monitoring</a:t>
            </a:r>
          </a:p>
          <a:p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Investigation prioritization</a:t>
            </a:r>
          </a:p>
          <a:p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58362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2D0EDEE-01F8-21B8-45ED-1582E955F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D465076-E980-44C3-A8C1-248C878A6E62}"/>
              </a:ext>
            </a:extLst>
          </p:cNvPr>
          <p:cNvSpPr txBox="1">
            <a:spLocks/>
          </p:cNvSpPr>
          <p:nvPr/>
        </p:nvSpPr>
        <p:spPr>
          <a:xfrm>
            <a:off x="219076" y="168070"/>
            <a:ext cx="11182349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 15 Customers with highest number of items missing reported and revenue loss generated.</a:t>
            </a:r>
          </a:p>
          <a:p>
            <a:pPr marL="0" indent="0">
              <a:buNone/>
            </a:pPr>
            <a:endParaRPr lang="en-US" sz="2400" b="1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2887C67-3729-FCDE-DCB1-C853EAC37E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0714709"/>
              </p:ext>
            </p:extLst>
          </p:nvPr>
        </p:nvGraphicFramePr>
        <p:xfrm>
          <a:off x="104775" y="544958"/>
          <a:ext cx="5306655" cy="458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1331">
                  <a:extLst>
                    <a:ext uri="{9D8B030D-6E8A-4147-A177-3AD203B41FA5}">
                      <a16:colId xmlns:a16="http://schemas.microsoft.com/office/drawing/2014/main" val="2989787447"/>
                    </a:ext>
                  </a:extLst>
                </a:gridCol>
                <a:gridCol w="1061331">
                  <a:extLst>
                    <a:ext uri="{9D8B030D-6E8A-4147-A177-3AD203B41FA5}">
                      <a16:colId xmlns:a16="http://schemas.microsoft.com/office/drawing/2014/main" val="447780730"/>
                    </a:ext>
                  </a:extLst>
                </a:gridCol>
                <a:gridCol w="1061331">
                  <a:extLst>
                    <a:ext uri="{9D8B030D-6E8A-4147-A177-3AD203B41FA5}">
                      <a16:colId xmlns:a16="http://schemas.microsoft.com/office/drawing/2014/main" val="3708138219"/>
                    </a:ext>
                  </a:extLst>
                </a:gridCol>
                <a:gridCol w="1061331">
                  <a:extLst>
                    <a:ext uri="{9D8B030D-6E8A-4147-A177-3AD203B41FA5}">
                      <a16:colId xmlns:a16="http://schemas.microsoft.com/office/drawing/2014/main" val="1002444320"/>
                    </a:ext>
                  </a:extLst>
                </a:gridCol>
                <a:gridCol w="1061331">
                  <a:extLst>
                    <a:ext uri="{9D8B030D-6E8A-4147-A177-3AD203B41FA5}">
                      <a16:colId xmlns:a16="http://schemas.microsoft.com/office/drawing/2014/main" val="3818257792"/>
                    </a:ext>
                  </a:extLst>
                </a:gridCol>
              </a:tblGrid>
              <a:tr h="56493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 Id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 Name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 Age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# of Missing Items by Customers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Revenue Loss by Customers</a:t>
                      </a:r>
                    </a:p>
                    <a:p>
                      <a:pPr algn="l"/>
                      <a:endParaRPr lang="en-IE" sz="11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233544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WCID5820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Edward Henry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73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101.18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841114091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WCID5685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Shelley Gould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1467.61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267707627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WCID5857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Douglas Roth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81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88.16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76438132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WCID5165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David Mccoy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59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1520.85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056034730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WCID5593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Victor Gonzalez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250.13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427996124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WCID5007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Timothy Daniel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245.49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729568209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WCID5339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Jerry Mullen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64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55.43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604265569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WCID6164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Karen Moore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47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64.43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574439027"/>
                  </a:ext>
                </a:extLst>
              </a:tr>
              <a:tr h="39111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WCID5978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Raymond Chavez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49.63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422000389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WCID6096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Holly Stewart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38.76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137679591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WCID5046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James Hopkins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38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830.19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107329647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WCID5817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Angela Bradley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67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72.53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152675928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WCID5652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Carla Knox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23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689.41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69777121"/>
                  </a:ext>
                </a:extLst>
              </a:tr>
              <a:tr h="39111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WCID5594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Robert Odonnell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42.75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3947954504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WCID5511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David Hicks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89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245.75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57539094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9599CCB-7682-9B9C-030D-38DC34FC3C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635597"/>
              </p:ext>
            </p:extLst>
          </p:nvPr>
        </p:nvGraphicFramePr>
        <p:xfrm>
          <a:off x="5525730" y="544958"/>
          <a:ext cx="5306655" cy="4587241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61331">
                  <a:extLst>
                    <a:ext uri="{9D8B030D-6E8A-4147-A177-3AD203B41FA5}">
                      <a16:colId xmlns:a16="http://schemas.microsoft.com/office/drawing/2014/main" val="2989787447"/>
                    </a:ext>
                  </a:extLst>
                </a:gridCol>
                <a:gridCol w="1061331">
                  <a:extLst>
                    <a:ext uri="{9D8B030D-6E8A-4147-A177-3AD203B41FA5}">
                      <a16:colId xmlns:a16="http://schemas.microsoft.com/office/drawing/2014/main" val="447780730"/>
                    </a:ext>
                  </a:extLst>
                </a:gridCol>
                <a:gridCol w="1061331">
                  <a:extLst>
                    <a:ext uri="{9D8B030D-6E8A-4147-A177-3AD203B41FA5}">
                      <a16:colId xmlns:a16="http://schemas.microsoft.com/office/drawing/2014/main" val="3708138219"/>
                    </a:ext>
                  </a:extLst>
                </a:gridCol>
                <a:gridCol w="1061331">
                  <a:extLst>
                    <a:ext uri="{9D8B030D-6E8A-4147-A177-3AD203B41FA5}">
                      <a16:colId xmlns:a16="http://schemas.microsoft.com/office/drawing/2014/main" val="1002444320"/>
                    </a:ext>
                  </a:extLst>
                </a:gridCol>
                <a:gridCol w="1061331">
                  <a:extLst>
                    <a:ext uri="{9D8B030D-6E8A-4147-A177-3AD203B41FA5}">
                      <a16:colId xmlns:a16="http://schemas.microsoft.com/office/drawing/2014/main" val="3818257792"/>
                    </a:ext>
                  </a:extLst>
                </a:gridCol>
              </a:tblGrid>
              <a:tr h="6180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 Id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 Name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 Age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# of Missing Items by Customers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Revenue Loss by Customers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19233544"/>
                  </a:ext>
                </a:extLst>
              </a:tr>
              <a:tr h="1956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WCID5923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Kenneth Brown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1657.5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41114091"/>
                  </a:ext>
                </a:extLst>
              </a:tr>
              <a:tr h="1956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WCID5638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Angela Brock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1594.95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67707627"/>
                  </a:ext>
                </a:extLst>
              </a:tr>
              <a:tr h="1956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WCID5164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Keith Jones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1571.26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6438132"/>
                  </a:ext>
                </a:extLst>
              </a:tr>
              <a:tr h="1956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WCID5938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Stephen Cook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1546.24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56034730"/>
                  </a:ext>
                </a:extLst>
              </a:tr>
              <a:tr h="3289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WCID5165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David Mccoy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1520.85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27996124"/>
                  </a:ext>
                </a:extLst>
              </a:tr>
              <a:tr h="3289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WCID5685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Shelley Gould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1467.61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9568209"/>
                  </a:ext>
                </a:extLst>
              </a:tr>
              <a:tr h="36276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WCID5653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Matthew Roberts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1305.11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04265569"/>
                  </a:ext>
                </a:extLst>
              </a:tr>
              <a:tr h="1956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WCID5964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John Scott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1276.4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74439027"/>
                  </a:ext>
                </a:extLst>
              </a:tr>
              <a:tr h="3289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WCID6128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Robert Wilson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1189.16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22000389"/>
                  </a:ext>
                </a:extLst>
              </a:tr>
              <a:tr h="1956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WCID5180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William Owens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1122.08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37679591"/>
                  </a:ext>
                </a:extLst>
              </a:tr>
              <a:tr h="3289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WCID5733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Joseph Perry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1093.01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7329647"/>
                  </a:ext>
                </a:extLst>
              </a:tr>
              <a:tr h="36276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WCID5228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Mr. Gregory Luna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1088.32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52675928"/>
                  </a:ext>
                </a:extLst>
              </a:tr>
              <a:tr h="1956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WCID5860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Robert Sanchez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1058.11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9777121"/>
                  </a:ext>
                </a:extLst>
              </a:tr>
              <a:tr h="36276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WCID5810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Thomas Wallace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979.65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47954504"/>
                  </a:ext>
                </a:extLst>
              </a:tr>
              <a:tr h="1956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WCID5333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Lisa Martinez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923.67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75390940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9B7CD7E-23C0-CCF2-5ADC-4F345A0E3298}"/>
              </a:ext>
            </a:extLst>
          </p:cNvPr>
          <p:cNvSpPr txBox="1">
            <a:spLocks/>
          </p:cNvSpPr>
          <p:nvPr/>
        </p:nvSpPr>
        <p:spPr>
          <a:xfrm>
            <a:off x="104776" y="5199306"/>
            <a:ext cx="5306654" cy="283306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Ordered by # of Missing Items</a:t>
            </a:r>
          </a:p>
          <a:p>
            <a:pPr marL="0" indent="0" algn="ctr">
              <a:buNone/>
            </a:pPr>
            <a:endParaRPr lang="en-US" sz="2400" b="1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ADFC2E3-5BA0-32AD-1C17-DFEAA9D10B23}"/>
              </a:ext>
            </a:extLst>
          </p:cNvPr>
          <p:cNvSpPr txBox="1">
            <a:spLocks/>
          </p:cNvSpPr>
          <p:nvPr/>
        </p:nvSpPr>
        <p:spPr>
          <a:xfrm>
            <a:off x="5525730" y="5225781"/>
            <a:ext cx="5306654" cy="283306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Ordered by Revenue Loss</a:t>
            </a:r>
          </a:p>
          <a:p>
            <a:pPr marL="0" indent="0" algn="ctr">
              <a:buNone/>
            </a:pPr>
            <a:endParaRPr lang="en-US" sz="2400" b="1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28051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F68CD3D-B4F2-E30A-030D-6A07F43CF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7CC6C45-C79E-0BB4-AA3D-73C26ECE212A}"/>
              </a:ext>
            </a:extLst>
          </p:cNvPr>
          <p:cNvSpPr txBox="1">
            <a:spLocks/>
          </p:cNvSpPr>
          <p:nvPr/>
        </p:nvSpPr>
        <p:spPr>
          <a:xfrm>
            <a:off x="219076" y="168070"/>
            <a:ext cx="11182349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 15 Drivers with highest number of items missing reported and revenue loss generated.</a:t>
            </a:r>
          </a:p>
          <a:p>
            <a:pPr marL="0" indent="0">
              <a:buNone/>
            </a:pPr>
            <a:endParaRPr lang="en-US" sz="2400" b="1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DCFA97D-53A1-1623-44DF-AEC91DD185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4360775"/>
              </p:ext>
            </p:extLst>
          </p:nvPr>
        </p:nvGraphicFramePr>
        <p:xfrm>
          <a:off x="104775" y="544963"/>
          <a:ext cx="5306658" cy="46046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4443">
                  <a:extLst>
                    <a:ext uri="{9D8B030D-6E8A-4147-A177-3AD203B41FA5}">
                      <a16:colId xmlns:a16="http://schemas.microsoft.com/office/drawing/2014/main" val="2989787447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447780730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3708138219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2657944701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1002444320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3818257792"/>
                    </a:ext>
                  </a:extLst>
                </a:gridCol>
              </a:tblGrid>
              <a:tr h="76076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 Id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 Name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 Age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 Trips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# of Missing Items by Drivers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Revenue Loss by Drivers</a:t>
                      </a:r>
                    </a:p>
                    <a:p>
                      <a:pPr algn="l"/>
                      <a:endParaRPr lang="en-IE" sz="11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233544"/>
                  </a:ext>
                </a:extLst>
              </a:tr>
              <a:tr h="26390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WDID09882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Angela Young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1084.34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41114091"/>
                  </a:ext>
                </a:extLst>
              </a:tr>
              <a:tr h="3442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WDID09883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Charles Rios DVM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570.28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67707627"/>
                  </a:ext>
                </a:extLst>
              </a:tr>
              <a:tr h="26390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WDID09884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James Winters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372.38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6438132"/>
                  </a:ext>
                </a:extLst>
              </a:tr>
              <a:tr h="17687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James White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95.6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56034730"/>
                  </a:ext>
                </a:extLst>
              </a:tr>
              <a:tr h="17687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WDID09878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Roger Green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482.64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27996124"/>
                  </a:ext>
                </a:extLst>
              </a:tr>
              <a:tr h="17687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WDID09879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Shane Palmer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600.96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9568209"/>
                  </a:ext>
                </a:extLst>
              </a:tr>
              <a:tr h="3442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WDID09880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Brittany Gordon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797.26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04265569"/>
                  </a:ext>
                </a:extLst>
              </a:tr>
              <a:tr h="17687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WDID09876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Jordan Daniel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46.95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74439027"/>
                  </a:ext>
                </a:extLst>
              </a:tr>
              <a:tr h="3442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WDID09875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Stephen Randolph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884.81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22000389"/>
                  </a:ext>
                </a:extLst>
              </a:tr>
              <a:tr h="17687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WDID09874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Billy Lawson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1310.38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37679591"/>
                  </a:ext>
                </a:extLst>
              </a:tr>
              <a:tr h="26390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WDID09873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Pamela Moore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58.03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7329647"/>
                  </a:ext>
                </a:extLst>
              </a:tr>
              <a:tr h="3442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WDID09881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Tracey Watkins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759.78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52675928"/>
                  </a:ext>
                </a:extLst>
              </a:tr>
              <a:tr h="17687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WDID09891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Justin Parsons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60.18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9777121"/>
                  </a:ext>
                </a:extLst>
              </a:tr>
              <a:tr h="26390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WDID09890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Cynthia Owens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916.8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47954504"/>
                  </a:ext>
                </a:extLst>
              </a:tr>
              <a:tr h="3442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WDID09893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Mrs. Valerie Schwartz MD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371.49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7539094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07628F4-8578-BAAF-E821-C20DF6D2CD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311161"/>
              </p:ext>
            </p:extLst>
          </p:nvPr>
        </p:nvGraphicFramePr>
        <p:xfrm>
          <a:off x="5525730" y="544960"/>
          <a:ext cx="5306658" cy="4598876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884443">
                  <a:extLst>
                    <a:ext uri="{9D8B030D-6E8A-4147-A177-3AD203B41FA5}">
                      <a16:colId xmlns:a16="http://schemas.microsoft.com/office/drawing/2014/main" val="2989787447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447780730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3708138219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2240499625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1002444320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3818257792"/>
                    </a:ext>
                  </a:extLst>
                </a:gridCol>
              </a:tblGrid>
              <a:tr h="44914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 Id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 Name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 Age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 Trips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# of Missing by Drivers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Revenue Loss by Drivers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19233544"/>
                  </a:ext>
                </a:extLst>
              </a:tr>
              <a:tr h="300943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WDID10442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Marc Waters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2044.08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41114091"/>
                  </a:ext>
                </a:extLst>
              </a:tr>
              <a:tr h="17258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Paul Leach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2034.34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67707627"/>
                  </a:ext>
                </a:extLst>
              </a:tr>
              <a:tr h="17258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WDID10476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Scott Carter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1889.86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6438132"/>
                  </a:ext>
                </a:extLst>
              </a:tr>
              <a:tr h="17258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WDID10422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Patrick Hall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1869.39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56034730"/>
                  </a:ext>
                </a:extLst>
              </a:tr>
              <a:tr h="33589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WDID10387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Dalton Rogers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1731.45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27996124"/>
                  </a:ext>
                </a:extLst>
              </a:tr>
              <a:tr h="300943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WDID10447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Patricia Vance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1683.03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9568209"/>
                  </a:ext>
                </a:extLst>
              </a:tr>
              <a:tr h="33589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Kelsey Mitchell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1681.77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04265569"/>
                  </a:ext>
                </a:extLst>
              </a:tr>
              <a:tr h="300943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WDID10420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Heather King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1651.38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74439027"/>
                  </a:ext>
                </a:extLst>
              </a:tr>
              <a:tr h="23906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WDID10466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Alison Knight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1578.61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22000389"/>
                  </a:ext>
                </a:extLst>
              </a:tr>
              <a:tr h="17258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WDID10468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Joan Melton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1486.8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37679591"/>
                  </a:ext>
                </a:extLst>
              </a:tr>
              <a:tr h="33589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WDID10726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Lindsey Johnson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1423.54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7329647"/>
                  </a:ext>
                </a:extLst>
              </a:tr>
              <a:tr h="33589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WDID10734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Michael Zimmerman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1374.31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52675928"/>
                  </a:ext>
                </a:extLst>
              </a:tr>
              <a:tr h="300943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WDID10469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Leslie Powell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1363.22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9777121"/>
                  </a:ext>
                </a:extLst>
              </a:tr>
              <a:tr h="33589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WDID10423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Robert Wright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1347.02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47954504"/>
                  </a:ext>
                </a:extLst>
              </a:tr>
              <a:tr h="300943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WDID10641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Chelsey Willis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1344.99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75390940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96BB305-DBB4-25B9-613A-6D5A5EEC6D5C}"/>
              </a:ext>
            </a:extLst>
          </p:cNvPr>
          <p:cNvSpPr txBox="1">
            <a:spLocks/>
          </p:cNvSpPr>
          <p:nvPr/>
        </p:nvSpPr>
        <p:spPr>
          <a:xfrm>
            <a:off x="104775" y="5153576"/>
            <a:ext cx="5306654" cy="283306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Ordered by # of Missing Items</a:t>
            </a:r>
          </a:p>
          <a:p>
            <a:pPr marL="0" indent="0" algn="ctr">
              <a:buNone/>
            </a:pPr>
            <a:endParaRPr lang="en-US" sz="2400" b="1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B91A4DB-25C5-31DA-5979-C4300F06DB20}"/>
              </a:ext>
            </a:extLst>
          </p:cNvPr>
          <p:cNvSpPr txBox="1">
            <a:spLocks/>
          </p:cNvSpPr>
          <p:nvPr/>
        </p:nvSpPr>
        <p:spPr>
          <a:xfrm>
            <a:off x="5525730" y="5153576"/>
            <a:ext cx="5306654" cy="283306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Ordered by Revenue Loss</a:t>
            </a:r>
          </a:p>
          <a:p>
            <a:pPr marL="0" indent="0" algn="ctr">
              <a:buNone/>
            </a:pPr>
            <a:endParaRPr lang="en-US" sz="2400" b="1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94637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4A64B9C-3A0F-7479-CA4F-FA3E93F41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E6ECD-9135-8BAB-6865-DE8A07908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170974" cy="1325563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Integrated Analytical Narrative (H1-H12)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79E704-3E8F-BEE6-C710-60BFBF7445B5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58618" y="836500"/>
            <a:ext cx="11933382" cy="7768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Objective</a:t>
            </a:r>
          </a:p>
          <a:p>
            <a:pPr marL="0" indent="0">
              <a:buNone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Identify whether missing items are driven by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operations, behavior, or fraud patterns.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EDCE12-8D73-EE06-EE82-E4C470148A22}"/>
              </a:ext>
            </a:extLst>
          </p:cNvPr>
          <p:cNvSpPr txBox="1"/>
          <p:nvPr/>
        </p:nvSpPr>
        <p:spPr>
          <a:xfrm>
            <a:off x="1510192" y="1613307"/>
            <a:ext cx="4087045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 Patterns</a:t>
            </a:r>
          </a:p>
          <a:p>
            <a:pPr marL="0" indent="0">
              <a:buNone/>
            </a:pPr>
            <a:endParaRPr lang="en-US" sz="15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clear operational risk pattern</a:t>
            </a:r>
          </a:p>
          <a:p>
            <a:pPr marL="0" indent="0">
              <a:buNone/>
            </a:pP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Missing items are not driven by time, seasonality, or region</a:t>
            </a:r>
          </a:p>
          <a:p>
            <a:pPr marL="0" indent="0">
              <a:buNone/>
            </a:pPr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Morning and early week show slightly higher incidence</a:t>
            </a:r>
          </a:p>
          <a:p>
            <a:pPr marL="0" indent="0">
              <a:buNone/>
            </a:pP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Indicates possible operational variability, not structural risk</a:t>
            </a:r>
          </a:p>
          <a:p>
            <a:pPr marL="0" indent="0">
              <a:buNone/>
            </a:pPr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Regional </a:t>
            </a:r>
            <a:r>
              <a:rPr lang="en-US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incident frequency impact is limited but financial impact </a:t>
            </a:r>
            <a:r>
              <a:rPr lang="en-IE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varies significantly</a:t>
            </a:r>
          </a:p>
          <a:p>
            <a:pPr marL="0" indent="0">
              <a:buNone/>
            </a:pP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Orlando shows higher financial impact, but no strong geographic concentration concerning number of items missing</a:t>
            </a:r>
          </a:p>
          <a:p>
            <a:pPr marL="0" indent="0">
              <a:buNone/>
            </a:pPr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items appear to be </a:t>
            </a: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noise rather than systematic risk patterns</a:t>
            </a:r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C83AEA-FBA2-8EEF-3649-1074674A254E}"/>
              </a:ext>
            </a:extLst>
          </p:cNvPr>
          <p:cNvSpPr txBox="1"/>
          <p:nvPr/>
        </p:nvSpPr>
        <p:spPr>
          <a:xfrm>
            <a:off x="6594764" y="1613307"/>
            <a:ext cx="4087045" cy="40164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Product-Level Risk</a:t>
            </a:r>
          </a:p>
          <a:p>
            <a:pPr marL="0" indent="0">
              <a:buNone/>
            </a:pPr>
            <a:endParaRPr lang="en-US" sz="15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items are concentrated in high-volume categories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Supermarket products account for 80%+ of incidents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Financial impact driven by high-value items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Electronics have lower frequency but higher revenue loss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Different drivers for frequency vs. impact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Low-price items → more frequent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High-price items → higher financial exposure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items are driven by </a:t>
            </a: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volume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while financial risk is driven by </a:t>
            </a: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 value</a:t>
            </a:r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29979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180AE60-59C7-8BA9-C44A-E28FE7F87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BBDD2E58-3896-0E20-3E1E-A34BB31BEF8B}"/>
              </a:ext>
            </a:extLst>
          </p:cNvPr>
          <p:cNvSpPr txBox="1"/>
          <p:nvPr/>
        </p:nvSpPr>
        <p:spPr>
          <a:xfrm>
            <a:off x="168445" y="105013"/>
            <a:ext cx="542659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Customers behavior</a:t>
            </a:r>
          </a:p>
          <a:p>
            <a:pPr marL="0" indent="0">
              <a:buNone/>
            </a:pPr>
            <a:endParaRPr lang="en-US" sz="15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strong demographic pattern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Missing item rates are consistent across age groups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Higher financial impact among adults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Likely driven by larger baskets or higher-value purchases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Limited influence on missing item occurrence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Issues affect customers broadly, not specific segments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 behavior is </a:t>
            </a: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primary driver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of missing item incidents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67BAC0-FFE0-732A-5A73-8FF156133D67}"/>
              </a:ext>
            </a:extLst>
          </p:cNvPr>
          <p:cNvSpPr txBox="1"/>
          <p:nvPr/>
        </p:nvSpPr>
        <p:spPr>
          <a:xfrm>
            <a:off x="5595042" y="105013"/>
            <a:ext cx="6428513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 Behavior and Operational Execution</a:t>
            </a:r>
          </a:p>
          <a:p>
            <a:endParaRPr lang="en-US" sz="15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Higher risk linked to multi-ID drivers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Associated with higher missing rates and revenue loss (interpret with caution)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Moderate variation across driver age groups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Adult and senior drivers show slightly higher incidence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Younger drivers show lower rates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Experience reduces operational risk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High-volume drivers have fewer missing items and lower losses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 </a:t>
            </a: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experience improves performance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while </a:t>
            </a: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multi-ID use signals risk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69119A-B2CA-1E27-94F2-8A7BAAB436F5}"/>
              </a:ext>
            </a:extLst>
          </p:cNvPr>
          <p:cNvSpPr txBox="1"/>
          <p:nvPr/>
        </p:nvSpPr>
        <p:spPr>
          <a:xfrm>
            <a:off x="416459" y="3244334"/>
            <a:ext cx="10741936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15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Overall Interpretation</a:t>
            </a:r>
          </a:p>
          <a:p>
            <a:pPr algn="ctr"/>
            <a:endParaRPr lang="en-IE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items are primarily operational</a:t>
            </a:r>
          </a:p>
          <a:p>
            <a:pPr algn="ctr"/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No strong evidence of systematic fraud patterns</a:t>
            </a:r>
          </a:p>
          <a:p>
            <a:pPr algn="ctr"/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Incidents driven by high-volume operations (low-value items)</a:t>
            </a:r>
          </a:p>
          <a:p>
            <a:pPr algn="ctr"/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Concentrated in frequent, routine processes</a:t>
            </a:r>
          </a:p>
          <a:p>
            <a:pPr algn="ctr"/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Financial impact driven by high-value products</a:t>
            </a:r>
          </a:p>
          <a:p>
            <a:pPr algn="ctr"/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Low frequency, but high exposure (e.g., electronics)</a:t>
            </a:r>
          </a:p>
          <a:p>
            <a:pPr algn="ctr"/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items reflect a mix of </a:t>
            </a: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inefficiencies (volume-driven)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                                                                                                               </a:t>
            </a: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financial exposure (value-driven)</a:t>
            </a:r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9631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08E2C4A-5ADE-EC2F-AC43-58EE5ADA6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7A0CA-EAC6-A715-7BDB-3B56D02C4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170974" cy="1325563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 Key Findings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535044-B0FF-499F-C349-83F15CE12AD8}"/>
              </a:ext>
            </a:extLst>
          </p:cNvPr>
          <p:cNvSpPr txBox="1"/>
          <p:nvPr/>
        </p:nvSpPr>
        <p:spPr>
          <a:xfrm>
            <a:off x="258618" y="1136210"/>
            <a:ext cx="408704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Operational Volume Drives Incidents</a:t>
            </a:r>
          </a:p>
          <a:p>
            <a:endParaRPr lang="en-IE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 price supermarket items dominate missing cases</a:t>
            </a:r>
            <a:b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High volume → more operational errors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5A7C9F-E3E9-0219-6C54-4C1ECE882689}"/>
              </a:ext>
            </a:extLst>
          </p:cNvPr>
          <p:cNvSpPr txBox="1"/>
          <p:nvPr/>
        </p:nvSpPr>
        <p:spPr>
          <a:xfrm>
            <a:off x="258617" y="3739046"/>
            <a:ext cx="408704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Electronics Drive Financial Risk</a:t>
            </a:r>
          </a:p>
          <a:p>
            <a:endParaRPr lang="en-IE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Fewer incidents, but highest revenue loss</a:t>
            </a:r>
            <a:b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Higher value → higher revenue loss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0BB697-C6D7-0367-6BE6-73887A45B291}"/>
              </a:ext>
            </a:extLst>
          </p:cNvPr>
          <p:cNvSpPr txBox="1"/>
          <p:nvPr/>
        </p:nvSpPr>
        <p:spPr>
          <a:xfrm>
            <a:off x="5344104" y="1136210"/>
            <a:ext cx="4087045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</a:t>
            </a:r>
            <a:r>
              <a:rPr lang="en-US" sz="20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Financial Impact Outweighs Incident Frequency Across Regions and Customers</a:t>
            </a:r>
            <a:endParaRPr lang="en-IE" sz="2000" b="1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IE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Incident frequency impact is limited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Missing items not concentrated in specific locations or customer segments </a:t>
            </a:r>
          </a:p>
          <a:p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IE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Financial impact varies significantly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Orlando (region) and adults (customer) generate higher revenue loss per incident</a:t>
            </a:r>
          </a:p>
        </p:txBody>
      </p:sp>
    </p:spTree>
    <p:extLst>
      <p:ext uri="{BB962C8B-B14F-4D97-AF65-F5344CB8AC3E}">
        <p14:creationId xmlns:p14="http://schemas.microsoft.com/office/powerpoint/2010/main" val="22326611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59EBC27-7110-8979-35B5-7A4D90FD3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05B5DFB-83BC-D91D-195F-7D9F1ECA788A}"/>
              </a:ext>
            </a:extLst>
          </p:cNvPr>
          <p:cNvSpPr txBox="1"/>
          <p:nvPr/>
        </p:nvSpPr>
        <p:spPr>
          <a:xfrm>
            <a:off x="267671" y="439093"/>
            <a:ext cx="408704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4. Driver Experience Improve Operational Performance</a:t>
            </a:r>
          </a:p>
          <a:p>
            <a:endParaRPr lang="en-IE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Drivers with higher trip volume → fewer errors</a:t>
            </a:r>
            <a:b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High experience → more delivery accuracy and efficiency → fewer missing items and revenue loss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8C1782-7BD3-AD93-40F8-81B0854416A7}"/>
              </a:ext>
            </a:extLst>
          </p:cNvPr>
          <p:cNvSpPr txBox="1"/>
          <p:nvPr/>
        </p:nvSpPr>
        <p:spPr>
          <a:xfrm>
            <a:off x="4052477" y="2941032"/>
            <a:ext cx="4087045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5. Multiple Driver IDs = Risk Signal</a:t>
            </a:r>
          </a:p>
          <a:p>
            <a:endParaRPr lang="en-IE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Higher missing rates and revenue loss observed</a:t>
            </a:r>
          </a:p>
          <a:p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Small sample size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although the sample size remains small, the pattern may indicate potential operational irregularities or identity management issues within the driver system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40AD07-3AA1-163C-93A0-D574EF8F655D}"/>
              </a:ext>
            </a:extLst>
          </p:cNvPr>
          <p:cNvSpPr txBox="1"/>
          <p:nvPr/>
        </p:nvSpPr>
        <p:spPr>
          <a:xfrm>
            <a:off x="8339106" y="439093"/>
            <a:ext cx="3585222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6. </a:t>
            </a:r>
            <a:r>
              <a:rPr lang="en-US" sz="20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Certain Operational Time Windows Show Higher Risk Variability</a:t>
            </a:r>
            <a:endParaRPr lang="en-US" sz="20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IE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Higher risk in mornings /early week</a:t>
            </a:r>
            <a:b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Possible factors are higher operational workload, shift transitions, or inventory replenishment cycles</a:t>
            </a:r>
          </a:p>
        </p:txBody>
      </p:sp>
    </p:spTree>
    <p:extLst>
      <p:ext uri="{BB962C8B-B14F-4D97-AF65-F5344CB8AC3E}">
        <p14:creationId xmlns:p14="http://schemas.microsoft.com/office/powerpoint/2010/main" val="36408201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2C58B1F-D7A3-F91A-B29D-4B325E3CD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0C3C0-D89B-EBA0-3E02-892D187B0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093" y="2242990"/>
            <a:ext cx="9288489" cy="1186010"/>
          </a:xfrm>
        </p:spPr>
        <p:txBody>
          <a:bodyPr>
            <a:normAutofit fontScale="90000"/>
          </a:bodyPr>
          <a:lstStyle/>
          <a:p>
            <a:r>
              <a:rPr lang="en-GB" sz="6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4.Fraud Risk Score Framework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E5B82D-023B-2F7B-E624-B688567785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0929" y="3567072"/>
            <a:ext cx="10477962" cy="3290928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framework is divided into three parts.</a:t>
            </a:r>
          </a:p>
          <a:p>
            <a:endParaRPr lang="en-US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Fraud Risk Score Framework Methodology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Most Critical Segments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Fraud Risk Score Key Business Findings </a:t>
            </a:r>
            <a:endParaRPr lang="en-US" dirty="0"/>
          </a:p>
          <a:p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800" dirty="0"/>
          </a:p>
          <a:p>
            <a:endParaRPr lang="en-US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46281E-13E2-0318-9815-28388B9B4E3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462093" y="1676128"/>
            <a:ext cx="2801816" cy="85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0187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9A5BCA6-5B71-8ADE-8A36-D233AAA7E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BF1B-D867-F9D9-BCE8-B4D7FE999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170974" cy="1325563"/>
          </a:xfrm>
        </p:spPr>
        <p:txBody>
          <a:bodyPr/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Fraud Risk Score Framework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BFBA3-1585-28D3-9AFB-CF08A13F0D0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58618" y="990407"/>
            <a:ext cx="11257390" cy="8565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Fraud Risk Score will combine key risk indicators to assess order risk, enabling proactive monitoring and investigation prioritization.</a:t>
            </a:r>
          </a:p>
          <a:p>
            <a:pPr marL="0" indent="0">
              <a:buNone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17DB73-BCDA-4A0F-7343-33E0510B92FF}"/>
              </a:ext>
            </a:extLst>
          </p:cNvPr>
          <p:cNvSpPr txBox="1"/>
          <p:nvPr/>
        </p:nvSpPr>
        <p:spPr>
          <a:xfrm>
            <a:off x="258618" y="1846907"/>
            <a:ext cx="486564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buNone/>
            </a:pPr>
            <a:r>
              <a:rPr lang="en-IE" b="1" kern="1500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Objective</a:t>
            </a:r>
          </a:p>
          <a:p>
            <a:pPr marL="0" lvl="0" indent="0">
              <a:buNone/>
            </a:pPr>
            <a:endParaRPr lang="en-IE" b="1" kern="1500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Select key risk variables derived from the EDA</a:t>
            </a:r>
          </a:p>
          <a:p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Normalize and standardize relevant metrics</a:t>
            </a:r>
          </a:p>
          <a:p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Combine weighted indicators into a composite risk score</a:t>
            </a:r>
          </a:p>
          <a:p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Assign relative risk levels to delivery orders</a:t>
            </a:r>
          </a:p>
          <a:p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score will not represent confirmed fraud probability, but rather a relative risk assessment tool to support preventive decision-making.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8061082-11B0-4F84-D5A2-8B632F524A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733041"/>
              </p:ext>
            </p:extLst>
          </p:nvPr>
        </p:nvGraphicFramePr>
        <p:xfrm>
          <a:off x="5124261" y="1846907"/>
          <a:ext cx="5998425" cy="2105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9475">
                  <a:extLst>
                    <a:ext uri="{9D8B030D-6E8A-4147-A177-3AD203B41FA5}">
                      <a16:colId xmlns:a16="http://schemas.microsoft.com/office/drawing/2014/main" val="2804027855"/>
                    </a:ext>
                  </a:extLst>
                </a:gridCol>
                <a:gridCol w="1999475">
                  <a:extLst>
                    <a:ext uri="{9D8B030D-6E8A-4147-A177-3AD203B41FA5}">
                      <a16:colId xmlns:a16="http://schemas.microsoft.com/office/drawing/2014/main" val="1217689272"/>
                    </a:ext>
                  </a:extLst>
                </a:gridCol>
                <a:gridCol w="1999475">
                  <a:extLst>
                    <a:ext uri="{9D8B030D-6E8A-4147-A177-3AD203B41FA5}">
                      <a16:colId xmlns:a16="http://schemas.microsoft.com/office/drawing/2014/main" val="2880210754"/>
                    </a:ext>
                  </a:extLst>
                </a:gridCol>
              </a:tblGrid>
              <a:tr h="350932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3105422"/>
                  </a:ext>
                </a:extLst>
              </a:tr>
              <a:tr h="350932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Incidence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Frequency of incidents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7027530"/>
                  </a:ext>
                </a:extLst>
              </a:tr>
              <a:tr h="350932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Weighted 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Operational severity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8459568"/>
                  </a:ext>
                </a:extLst>
              </a:tr>
              <a:tr h="350932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revenue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Financial intensity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3112984"/>
                  </a:ext>
                </a:extLst>
              </a:tr>
              <a:tr h="35093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Weighted revenue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Financial efficiency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7999851"/>
                  </a:ext>
                </a:extLst>
              </a:tr>
              <a:tr h="350932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Order volume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Reliability od 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8400559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DDE85E1-9FF3-604D-850E-8E76A8503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7398875"/>
              </p:ext>
            </p:extLst>
          </p:nvPr>
        </p:nvGraphicFramePr>
        <p:xfrm>
          <a:off x="5124261" y="4100465"/>
          <a:ext cx="4332586" cy="152485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166293">
                  <a:extLst>
                    <a:ext uri="{9D8B030D-6E8A-4147-A177-3AD203B41FA5}">
                      <a16:colId xmlns:a16="http://schemas.microsoft.com/office/drawing/2014/main" val="1517584828"/>
                    </a:ext>
                  </a:extLst>
                </a:gridCol>
                <a:gridCol w="2166293">
                  <a:extLst>
                    <a:ext uri="{9D8B030D-6E8A-4147-A177-3AD203B41FA5}">
                      <a16:colId xmlns:a16="http://schemas.microsoft.com/office/drawing/2014/main" val="1031264493"/>
                    </a:ext>
                  </a:extLst>
                </a:gridCol>
              </a:tblGrid>
              <a:tr h="304970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Score Risk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Classification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640315"/>
                  </a:ext>
                </a:extLst>
              </a:tr>
              <a:tr h="304970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Los Risk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5689066"/>
                  </a:ext>
                </a:extLst>
              </a:tr>
              <a:tr h="304970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25-50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Moderate Risk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2243155"/>
                  </a:ext>
                </a:extLst>
              </a:tr>
              <a:tr h="304970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50-75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High Risk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1439363"/>
                  </a:ext>
                </a:extLst>
              </a:tr>
              <a:tr h="304970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75-100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Critical Risk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4408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28783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987C27B-49E2-70B7-834E-189C3F6F4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15CE1-4C52-184C-DB7C-4231401D6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1492780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Most Critical Segments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E0B1BD-BE53-5FBA-E2CE-FE9C3D78389A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4532068"/>
            <a:ext cx="11371152" cy="16914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 Fraud Risk Segments: </a:t>
            </a:r>
            <a:r>
              <a:rPr lang="en-US" sz="2000" dirty="0"/>
              <a:t>Fraud risk is concentrated in specific operational periods, driver profiles, and high-value products.</a:t>
            </a:r>
          </a:p>
          <a:p>
            <a:pPr marL="0" indent="0">
              <a:buNone/>
            </a:pP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Fraud Risk Matrix: </a:t>
            </a:r>
            <a:r>
              <a:rPr lang="en-US" sz="2000" dirty="0"/>
              <a:t>High-risk segments cluster in the top-right quadrant, combining high        frequency and high financial impact.</a:t>
            </a:r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04E2CB-16B0-68FC-948F-F380DB5B10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39" y="833437"/>
            <a:ext cx="5892869" cy="35957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534B61F-3BB7-14DC-6C91-429CB30718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833437"/>
            <a:ext cx="5892869" cy="352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2703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DACA6F7-5C2B-D263-B00B-E21C8578F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76F2D-3DEF-7AC6-BA64-C57230015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170974" cy="1325563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Fraud Risk Score Key Business Findings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49657E-00DC-0CEC-F0C0-2DB0F455722C}"/>
              </a:ext>
            </a:extLst>
          </p:cNvPr>
          <p:cNvSpPr txBox="1"/>
          <p:nvPr/>
        </p:nvSpPr>
        <p:spPr>
          <a:xfrm>
            <a:off x="696303" y="1136210"/>
            <a:ext cx="522481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High-Value Products Drive Risk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Electronics &amp; Premium ($300+) → Critical Risk</a:t>
            </a:r>
            <a:b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High financial exposure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5A478B-FEA8-55D9-3EB7-2ACE6420E5F2}"/>
              </a:ext>
            </a:extLst>
          </p:cNvPr>
          <p:cNvSpPr txBox="1"/>
          <p:nvPr/>
        </p:nvSpPr>
        <p:spPr>
          <a:xfrm>
            <a:off x="7408651" y="1136210"/>
            <a:ext cx="408704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Operational Timing Matters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Morning, specific months, and weekdays show higher risk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1463BB-4B7F-DEE6-73D8-61187D618CE0}"/>
              </a:ext>
            </a:extLst>
          </p:cNvPr>
          <p:cNvSpPr txBox="1"/>
          <p:nvPr/>
        </p:nvSpPr>
        <p:spPr>
          <a:xfrm>
            <a:off x="7408652" y="2711605"/>
            <a:ext cx="456848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4. Volume ≠ Financial Risk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Low volume + high value → highest risk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041991-6170-82BE-1CB1-7A17919E388D}"/>
              </a:ext>
            </a:extLst>
          </p:cNvPr>
          <p:cNvSpPr txBox="1"/>
          <p:nvPr/>
        </p:nvSpPr>
        <p:spPr>
          <a:xfrm>
            <a:off x="696303" y="2709990"/>
            <a:ext cx="408704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Driver &amp; Customer Segments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Medium trip drivers → higher risk</a:t>
            </a:r>
            <a:b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Adult/Senior groups → elevated patterns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5695B1-4DBB-78BB-6DCE-68BE5A6F48C3}"/>
              </a:ext>
            </a:extLst>
          </p:cNvPr>
          <p:cNvSpPr txBox="1"/>
          <p:nvPr/>
        </p:nvSpPr>
        <p:spPr>
          <a:xfrm>
            <a:off x="4052477" y="4010001"/>
            <a:ext cx="4087045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Final Insight</a:t>
            </a:r>
          </a:p>
          <a:p>
            <a:pPr algn="ctr"/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 is driven by 3 factors:</a:t>
            </a:r>
            <a:endParaRPr lang="en-US" sz="2000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High-value products (financial)</a:t>
            </a:r>
          </a:p>
          <a:p>
            <a:pPr algn="ctr"/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timing (process)</a:t>
            </a:r>
          </a:p>
          <a:p>
            <a:pPr algn="ctr"/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 behavior (execution)</a:t>
            </a:r>
          </a:p>
        </p:txBody>
      </p:sp>
    </p:spTree>
    <p:extLst>
      <p:ext uri="{BB962C8B-B14F-4D97-AF65-F5344CB8AC3E}">
        <p14:creationId xmlns:p14="http://schemas.microsoft.com/office/powerpoint/2010/main" val="37591410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7912ABD-828E-8C87-F2DC-99C8D5E11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13A80-96C1-F359-FF4D-8765D1F73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093" y="3890720"/>
            <a:ext cx="9288489" cy="1186010"/>
          </a:xfrm>
        </p:spPr>
        <p:txBody>
          <a:bodyPr>
            <a:normAutofit/>
          </a:bodyPr>
          <a:lstStyle/>
          <a:p>
            <a:r>
              <a:rPr lang="en-GB" sz="6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5.Final Recommendations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C99EC0-5CFD-881D-34C0-B37152FF5C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3769" y="5388055"/>
            <a:ext cx="10477962" cy="1469945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Recommendations based on exploratory data analysis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Recommendations based on Risk level</a:t>
            </a:r>
            <a:endParaRPr lang="en-US" dirty="0"/>
          </a:p>
          <a:p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800" dirty="0"/>
          </a:p>
          <a:p>
            <a:endParaRPr lang="en-US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B1F3B6-F4BE-8DF3-96AA-69AC1BC7718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462093" y="3429000"/>
            <a:ext cx="2801816" cy="85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14508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9ABD0B2-FB5B-FFA8-2308-801FAD63D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DA885-4185-90EF-ED5E-F76FE3CB2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170974" cy="1325563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Recommendations based on EDA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8E4721-7E65-A957-6624-F45F81520A1A}"/>
              </a:ext>
            </a:extLst>
          </p:cNvPr>
          <p:cNvSpPr txBox="1"/>
          <p:nvPr/>
        </p:nvSpPr>
        <p:spPr>
          <a:xfrm>
            <a:off x="258619" y="1136209"/>
            <a:ext cx="583738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AutoNum type="arabicPeriod"/>
            </a:pPr>
            <a:r>
              <a:rPr lang="en-US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Protect High-Value Orders</a:t>
            </a:r>
          </a:p>
          <a:p>
            <a:pPr marL="457200" indent="-457200">
              <a:buAutoNum type="arabicPeriod"/>
            </a:pPr>
            <a:endParaRPr lang="en-US" b="1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Enforce delivery confirmation (photo + verification)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Photo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of the recipient holding the package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PIN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sent via SMS to the buyer 30 minutes before arrival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 Recipient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 check</a:t>
            </a:r>
          </a:p>
          <a:p>
            <a:endParaRPr lang="en-US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tamper-proof packaging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Seals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applied across the package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FCC084-0349-AA1D-AEEC-0FC29BEF9023}"/>
              </a:ext>
            </a:extLst>
          </p:cNvPr>
          <p:cNvSpPr txBox="1"/>
          <p:nvPr/>
        </p:nvSpPr>
        <p:spPr>
          <a:xfrm>
            <a:off x="3939174" y="3429000"/>
            <a:ext cx="408704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Strengthen Driver Identity Control</a:t>
            </a:r>
          </a:p>
          <a:p>
            <a:endParaRPr lang="en-US" b="1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Flag multiple ID accounts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Automatic flagging and manual audit if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2+ driver names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share the same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Device ID (IMEI)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or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Bank Account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b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Implement identity verification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Random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3D Selfies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to prevent account sharing and "Ghost Drivers.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CAE16A-FEE2-BE90-B70C-A168578FC6E1}"/>
              </a:ext>
            </a:extLst>
          </p:cNvPr>
          <p:cNvSpPr txBox="1"/>
          <p:nvPr/>
        </p:nvSpPr>
        <p:spPr>
          <a:xfrm>
            <a:off x="7846337" y="1136210"/>
            <a:ext cx="408704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Improve High-Volume Operations</a:t>
            </a:r>
          </a:p>
          <a:p>
            <a:endParaRPr lang="en-US" b="1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Add picking validation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Mandatory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barcode validation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 every picking stage to eliminate item errors.</a:t>
            </a:r>
          </a:p>
          <a:p>
            <a:b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User automated order checks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Automated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systems to cross-verify order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contents against shipping manifests.</a:t>
            </a:r>
          </a:p>
        </p:txBody>
      </p:sp>
    </p:spTree>
    <p:extLst>
      <p:ext uri="{BB962C8B-B14F-4D97-AF65-F5344CB8AC3E}">
        <p14:creationId xmlns:p14="http://schemas.microsoft.com/office/powerpoint/2010/main" val="25043923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D80AB14-6547-29AA-F66D-22503638A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17B75-CC04-EB66-E026-54D6509F7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170974" cy="1325563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Recommendations based on EDA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6FF9B2-5A51-EBAA-951A-C9CA649404E7}"/>
              </a:ext>
            </a:extLst>
          </p:cNvPr>
          <p:cNvSpPr txBox="1"/>
          <p:nvPr/>
        </p:nvSpPr>
        <p:spPr>
          <a:xfrm>
            <a:off x="780771" y="1856622"/>
            <a:ext cx="4568489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4. Develop Driver Performance Strategy</a:t>
            </a:r>
          </a:p>
          <a:p>
            <a:endParaRPr lang="en-US" sz="2000" b="1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Train mid-experience drivers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Focused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coaching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established drivers to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reduce delivery errors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Incentivize delivery accuracy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 Tiered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bonuses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high verification compliance and positive customer ratings.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212A74-0CCD-AA89-C7EE-7E27A93859B0}"/>
              </a:ext>
            </a:extLst>
          </p:cNvPr>
          <p:cNvSpPr txBox="1"/>
          <p:nvPr/>
        </p:nvSpPr>
        <p:spPr>
          <a:xfrm>
            <a:off x="6669340" y="1856622"/>
            <a:ext cx="4741889" cy="338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5. Implement Risk Monitoring System</a:t>
            </a:r>
          </a:p>
          <a:p>
            <a:endParaRPr lang="en-US" sz="2000" b="1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Track high-risk segments in real time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US" b="1" dirty="0"/>
              <a:t>Instant notifications </a:t>
            </a:r>
            <a:r>
              <a:rPr lang="en-US" dirty="0"/>
              <a:t>when orders enter designated </a:t>
            </a:r>
            <a:r>
              <a:rPr lang="en-US" b="1" dirty="0"/>
              <a:t>"Red Flag" sectors</a:t>
            </a:r>
            <a:r>
              <a:rPr lang="en-US" dirty="0"/>
              <a:t>.</a:t>
            </a:r>
          </a:p>
          <a:p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Monitor products, drivers, and time windows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US" b="1" dirty="0"/>
              <a:t>Auditing</a:t>
            </a:r>
            <a:r>
              <a:rPr lang="en-US" dirty="0"/>
              <a:t> the overlap of high-value goods, new drivers, and morning/early week shift windows.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2611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272E0E5-F963-6E11-260A-68AFAB7EF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4C233-ACBD-EEBB-1452-E23EB7D3C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170974" cy="1325563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Recommendations based on Risk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673E65-FDB7-5B00-43B0-86A2D196D210}"/>
              </a:ext>
            </a:extLst>
          </p:cNvPr>
          <p:cNvSpPr txBox="1"/>
          <p:nvPr/>
        </p:nvSpPr>
        <p:spPr>
          <a:xfrm>
            <a:off x="3272878" y="1074509"/>
            <a:ext cx="6275856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Critical Risk Actions: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Enforce delivery confirmation (photo + PIN +Verification)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Use tamper-proof packaging </a:t>
            </a:r>
            <a: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 high-value items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Flag multiple drivers ID accounts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Track high-risk segments in real time</a:t>
            </a:r>
          </a:p>
          <a:p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IE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 Risk Actions: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Add picking validation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User automated order checks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IE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Moderate Risk Actions: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</a:t>
            </a:r>
            <a: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Standard monitoring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Track for pattern escalation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IE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 Risk Actions: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immediate action required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581109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C757A93-1EA7-646C-4D8E-699F6AD31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CDC43-5F77-17A2-9F64-A9BBF7B9B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096" y="3998537"/>
            <a:ext cx="9288489" cy="1186010"/>
          </a:xfrm>
        </p:spPr>
        <p:txBody>
          <a:bodyPr>
            <a:normAutofit/>
          </a:bodyPr>
          <a:lstStyle/>
          <a:p>
            <a:r>
              <a:rPr lang="en-GB" sz="6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6.Project Summary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30A5B1-4C04-391A-582E-D9913923B4A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457096" y="3140958"/>
            <a:ext cx="2801816" cy="85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95690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508B0ED-64C4-796C-9A07-36D7D4C91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ECE7E95-B5A2-73A1-45B4-FED869565043}"/>
              </a:ext>
            </a:extLst>
          </p:cNvPr>
          <p:cNvSpPr txBox="1"/>
          <p:nvPr/>
        </p:nvSpPr>
        <p:spPr>
          <a:xfrm>
            <a:off x="2958072" y="458956"/>
            <a:ext cx="6275856" cy="5940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Problem: 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items → financial loss &amp; customer dissatisfaction</a:t>
            </a:r>
          </a:p>
          <a:p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Insight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Issue is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operational, not fraud-driven</a:t>
            </a:r>
          </a:p>
          <a:p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 Drivers:</a:t>
            </a:r>
            <a:endParaRPr lang="en-US" sz="2000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High-value products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timing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 behavior</a:t>
            </a:r>
          </a:p>
          <a:p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Impact:</a:t>
            </a:r>
            <a:endParaRPr lang="en-US" sz="2000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Volume drives errors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 drives losses</a:t>
            </a:r>
          </a:p>
          <a:p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Actions:</a:t>
            </a:r>
            <a:endParaRPr lang="en-US" sz="2000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Protect high-value orders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Improve operations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Monitor drivers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risk framework</a:t>
            </a:r>
          </a:p>
        </p:txBody>
      </p:sp>
    </p:spTree>
    <p:extLst>
      <p:ext uri="{BB962C8B-B14F-4D97-AF65-F5344CB8AC3E}">
        <p14:creationId xmlns:p14="http://schemas.microsoft.com/office/powerpoint/2010/main" val="8214571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9A34314-CB74-66F1-C95B-2381498E3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146D4-5C4C-7C9F-23DA-4D6E60060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093" y="2242990"/>
            <a:ext cx="9288489" cy="1186010"/>
          </a:xfrm>
        </p:spPr>
        <p:txBody>
          <a:bodyPr>
            <a:normAutofit/>
          </a:bodyPr>
          <a:lstStyle/>
          <a:p>
            <a:r>
              <a:rPr lang="en-GB" sz="6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6.Fraud Risk Score Simulator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14DBC9-BF37-49C1-4B0F-5604478859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3769" y="3569747"/>
            <a:ext cx="10477962" cy="3288254"/>
          </a:xfrm>
        </p:spPr>
        <p:txBody>
          <a:bodyPr>
            <a:normAutofit fontScale="70000" lnSpcReduction="20000"/>
          </a:bodyPr>
          <a:lstStyle/>
          <a:p>
            <a:r>
              <a:rPr lang="en-US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fraud risk simulator was developed using the Fraud Risk Framework scores.</a:t>
            </a:r>
          </a:p>
          <a:p>
            <a:r>
              <a:rPr lang="en-US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tool estimates the risk level of a delivery based on operational, driver, customer, and product characteristics by aggregating segment-level risk scores.</a:t>
            </a:r>
          </a:p>
          <a:p>
            <a:br>
              <a:rPr lang="en-US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US" sz="4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Link: https://delivery-fraud-risk-score-simulator-walmart.streamlit.app/</a:t>
            </a:r>
          </a:p>
          <a:p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800" dirty="0"/>
          </a:p>
          <a:p>
            <a:endParaRPr lang="en-US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4E9F7D-4972-5710-18CF-4EEB9656F87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462093" y="1673453"/>
            <a:ext cx="2801816" cy="85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69763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B94EDE0-C75C-8814-EF50-383362E26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A55E0-9277-9D6D-3990-312A45EF9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699192" cy="1325563"/>
          </a:xfrm>
        </p:spPr>
        <p:txBody>
          <a:bodyPr>
            <a:normAutofit/>
          </a:bodyPr>
          <a:lstStyle/>
          <a:p>
            <a:pPr algn="l"/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Fraud Risk Score Simulator – How to operate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29470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951C385-C1D3-EDBA-98EB-133FB0BB8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A9D92-CD8E-535D-9F65-41C19C9C8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093" y="2242990"/>
            <a:ext cx="9288489" cy="1186010"/>
          </a:xfrm>
        </p:spPr>
        <p:txBody>
          <a:bodyPr>
            <a:normAutofit/>
          </a:bodyPr>
          <a:lstStyle/>
          <a:p>
            <a:r>
              <a:rPr lang="en-GB" sz="6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7.Interactive Dashboard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C2DC3-4AA8-50F1-C572-B2869FD7BD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3769" y="3569747"/>
            <a:ext cx="10477962" cy="3288254"/>
          </a:xfrm>
        </p:spPr>
        <p:txBody>
          <a:bodyPr>
            <a:normAutofit fontScale="70000" lnSpcReduction="20000"/>
          </a:bodyPr>
          <a:lstStyle/>
          <a:p>
            <a:r>
              <a:rPr lang="en-US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fraud risk simulator was developed using the Fraud Risk Framework scores.</a:t>
            </a:r>
          </a:p>
          <a:p>
            <a:r>
              <a:rPr lang="en-US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tool estimates the risk level of a delivery based on operational, driver, customer, and product characteristics by aggregating segment-level risk scores.</a:t>
            </a:r>
          </a:p>
          <a:p>
            <a:br>
              <a:rPr lang="en-US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US" sz="4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Link: https://delivery-fraud-risk-score-simulator-walmart.streamlit.app/</a:t>
            </a:r>
          </a:p>
          <a:p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800" dirty="0"/>
          </a:p>
          <a:p>
            <a:endParaRPr lang="en-US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44CB23-84F1-0EC6-90F2-2AEF33EED00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462093" y="1673453"/>
            <a:ext cx="2801816" cy="85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3070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3028664-FF51-EBD0-2134-BFCF64156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809" y="649406"/>
            <a:ext cx="1364776" cy="136477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CB7FA14-218A-D00E-7626-F975C80A1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990600"/>
            <a:ext cx="2115403" cy="211540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60A5895-21A2-57DD-3CAB-A385FE1031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1051" y="829101"/>
            <a:ext cx="2438400" cy="24384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74B2B9A-99C7-A302-ED0E-162336C4E2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6883" y="3106003"/>
            <a:ext cx="2115403" cy="211540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5DB063A-8562-5947-5475-B87F148110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3427" y="3624618"/>
            <a:ext cx="1992573" cy="199257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70E7D73-9AB9-6253-C5A4-3955FD62E36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4741" y="3106003"/>
            <a:ext cx="2243123" cy="22431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775432D-9130-97AC-35D0-BB1C692BF40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3116" y="1480606"/>
            <a:ext cx="3250794" cy="325079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14F3787-30E4-6DE2-0AD1-ACF23167966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7259" y="990259"/>
            <a:ext cx="4877481" cy="4877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683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Roboto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nrio-PowerPoint-Template" id="{05B682D2-4063-504B-972A-2EFD4504373A}" vid="{92F9DAE4-59F8-F046-A190-212E94FEC91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Walmart-PowerPoint-Template</Template>
  <TotalTime>2267</TotalTime>
  <Words>4051</Words>
  <Application>Microsoft Office PowerPoint</Application>
  <PresentationFormat>Widescreen</PresentationFormat>
  <Paragraphs>898</Paragraphs>
  <Slides>45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0" baseType="lpstr">
      <vt:lpstr>Aptos</vt:lpstr>
      <vt:lpstr>Arial</vt:lpstr>
      <vt:lpstr>Calibri</vt:lpstr>
      <vt:lpstr>Roboto</vt:lpstr>
      <vt:lpstr>Office Theme</vt:lpstr>
      <vt:lpstr>Fraud Risk Analysis in Delivery Operations</vt:lpstr>
      <vt:lpstr>1.Business Understanding</vt:lpstr>
      <vt:lpstr>PowerPoint Presentation</vt:lpstr>
      <vt:lpstr>2.Data Understanding</vt:lpstr>
      <vt:lpstr>PowerPoint Presentation</vt:lpstr>
      <vt:lpstr>3.Exploratory Data Analysis</vt:lpstr>
      <vt:lpstr>Exploratory Data Analysis Methodology</vt:lpstr>
      <vt:lpstr>PowerPoint Presentation</vt:lpstr>
      <vt:lpstr>Key Metrics &amp; Dimensions Definition</vt:lpstr>
      <vt:lpstr>PowerPoint Presentation</vt:lpstr>
      <vt:lpstr>Hypotheses</vt:lpstr>
      <vt:lpstr>Overview (Supporting Metrics)</vt:lpstr>
      <vt:lpstr>Hypotheses Validation - Seasonality</vt:lpstr>
      <vt:lpstr>PowerPoint Presentation</vt:lpstr>
      <vt:lpstr>PowerPoint Presentation</vt:lpstr>
      <vt:lpstr>Hypotheses Validation - Location</vt:lpstr>
      <vt:lpstr>PowerPoint Presentation</vt:lpstr>
      <vt:lpstr>Hypotheses Validation - Products</vt:lpstr>
      <vt:lpstr>PowerPoint Presentation</vt:lpstr>
      <vt:lpstr>PowerPoint Presentation</vt:lpstr>
      <vt:lpstr>Hypotheses Validation - Customers</vt:lpstr>
      <vt:lpstr>Hypotheses Validation - Drivers</vt:lpstr>
      <vt:lpstr>PowerPoint Presentation</vt:lpstr>
      <vt:lpstr>PowerPoint Presentation</vt:lpstr>
      <vt:lpstr>Additional Analysis (Operational Monitoring)</vt:lpstr>
      <vt:lpstr>PowerPoint Presentation</vt:lpstr>
      <vt:lpstr>PowerPoint Presentation</vt:lpstr>
      <vt:lpstr>Integrated Analytical Narrative (H1-H12)</vt:lpstr>
      <vt:lpstr>PowerPoint Presentation</vt:lpstr>
      <vt:lpstr>Hypotheses Key Findings</vt:lpstr>
      <vt:lpstr>PowerPoint Presentation</vt:lpstr>
      <vt:lpstr>4.Fraud Risk Score Framework</vt:lpstr>
      <vt:lpstr>Fraud Risk Score Framework Methodology</vt:lpstr>
      <vt:lpstr>Most Critical Segments</vt:lpstr>
      <vt:lpstr>Fraud Risk Score Key Business Findings</vt:lpstr>
      <vt:lpstr>5.Final Recommendations</vt:lpstr>
      <vt:lpstr>Recommendations based on EDA</vt:lpstr>
      <vt:lpstr>Recommendations based on EDA</vt:lpstr>
      <vt:lpstr>Recommendations based on Risk Level</vt:lpstr>
      <vt:lpstr>6.Project Summary</vt:lpstr>
      <vt:lpstr>PowerPoint Presentation</vt:lpstr>
      <vt:lpstr>6.Fraud Risk Score Simulator</vt:lpstr>
      <vt:lpstr>Fraud Risk Score Simulator – How to operate</vt:lpstr>
      <vt:lpstr>7.Interactive Dashboard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Office</dc:creator>
  <cp:lastModifiedBy>Office</cp:lastModifiedBy>
  <cp:revision>121</cp:revision>
  <dcterms:created xsi:type="dcterms:W3CDTF">2026-03-14T16:59:09Z</dcterms:created>
  <dcterms:modified xsi:type="dcterms:W3CDTF">2026-03-20T22:23:24Z</dcterms:modified>
</cp:coreProperties>
</file>