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57" r:id="rId4"/>
    <p:sldId id="261" r:id="rId5"/>
    <p:sldId id="26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3" r:id="rId16"/>
    <p:sldId id="275" r:id="rId17"/>
    <p:sldId id="276" r:id="rId18"/>
    <p:sldId id="277" r:id="rId19"/>
    <p:sldId id="279" r:id="rId20"/>
    <p:sldId id="280" r:id="rId21"/>
    <p:sldId id="278" r:id="rId22"/>
    <p:sldId id="281" r:id="rId23"/>
    <p:sldId id="283" r:id="rId24"/>
    <p:sldId id="284" r:id="rId25"/>
    <p:sldId id="286" r:id="rId26"/>
    <p:sldId id="282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8" r:id="rId39"/>
    <p:sldId id="297" r:id="rId40"/>
    <p:sldId id="299" r:id="rId41"/>
    <p:sldId id="303" r:id="rId42"/>
    <p:sldId id="302" r:id="rId43"/>
    <p:sldId id="300" r:id="rId44"/>
    <p:sldId id="304" r:id="rId45"/>
    <p:sldId id="306" r:id="rId46"/>
    <p:sldId id="307" r:id="rId47"/>
    <p:sldId id="25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BA"/>
    <a:srgbClr val="107BCA"/>
    <a:srgbClr val="FDBC30"/>
    <a:srgbClr val="F2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4" autoAdjust="0"/>
    <p:restoredTop sz="95958"/>
  </p:normalViewPr>
  <p:slideViewPr>
    <p:cSldViewPr snapToGrid="0">
      <p:cViewPr varScale="1">
        <p:scale>
          <a:sx n="106" d="100"/>
          <a:sy n="106" d="100"/>
        </p:scale>
        <p:origin x="5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2F8F4-3A56-45F7-A40D-BD33D53E9BFB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12A50-B8D0-42E8-957C-366161382CB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9602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0475" y="2866291"/>
            <a:ext cx="8023861" cy="1717983"/>
          </a:xfrm>
        </p:spPr>
        <p:txBody>
          <a:bodyPr anchor="b">
            <a:normAutofit/>
          </a:bodyPr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0476" y="4692112"/>
            <a:ext cx="8023861" cy="648380"/>
          </a:xfrm>
        </p:spPr>
        <p:txBody>
          <a:bodyPr>
            <a:normAutofit/>
          </a:bodyPr>
          <a:lstStyle>
            <a:lvl1pPr marL="0" indent="0" algn="ctr"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50475" y="6291035"/>
            <a:ext cx="1971397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2155" y="6291035"/>
            <a:ext cx="32755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7949" y="6291036"/>
            <a:ext cx="1516387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E35D34-AFF6-FD67-69F4-07CA10FF0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93" y="1841862"/>
            <a:ext cx="11261821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EFFF79B-CB1A-2DB9-D1D3-2B5716D64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4369" y="6356349"/>
            <a:ext cx="1971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276D79ED-3FA7-4EF8-964B-EB8BCFAB02F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5618634-64F8-E86E-D531-28BAC3177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6049" y="6356349"/>
            <a:ext cx="6531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2E703D6-3CE9-255E-BAAA-446DB0D0AE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61171" y="6356350"/>
            <a:ext cx="1262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909A6-1A45-C218-504B-235FA16D4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525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93" y="1683613"/>
            <a:ext cx="8251553" cy="2852737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93" y="4563338"/>
            <a:ext cx="82515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243" y="6356349"/>
            <a:ext cx="2183674" cy="365125"/>
          </a:xfrm>
        </p:spPr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3199" y="6356349"/>
            <a:ext cx="32755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8993" y="6356350"/>
            <a:ext cx="1474653" cy="365125"/>
          </a:xfrm>
        </p:spPr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6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942" y="1873975"/>
            <a:ext cx="56279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9146" y="1873975"/>
            <a:ext cx="556476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4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43" y="299811"/>
            <a:ext cx="1131897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940" y="1615849"/>
            <a:ext cx="56279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41" y="2439761"/>
            <a:ext cx="56279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0" y="1615849"/>
            <a:ext cx="56279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2439761"/>
            <a:ext cx="56279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79ED-3FA7-4EF8-964B-EB8BCFAB02F8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12CB2-7F2C-47B9-AE70-22A94B49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5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hyperlink" Target="http://www.prezentr.com/?utm_source=templates&amp;utm_medium=presentation&amp;utm_campaign=free_downloads_2020" TargetMode="Externa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093" y="417376"/>
            <a:ext cx="112618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93" y="1841862"/>
            <a:ext cx="11261821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4369" y="6482961"/>
            <a:ext cx="1971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276D79ED-3FA7-4EF8-964B-EB8BCFAB02F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6049" y="6482961"/>
            <a:ext cx="6531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1171" y="6482962"/>
            <a:ext cx="12627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bg1">
                    <a:lumMod val="65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bg1">
                    <a:lumMod val="65000"/>
                  </a:schemeClr>
                </a:solidFill>
                <a:hlinkClick r:id="rId11"/>
              </a:rPr>
              <a:t>prezentr.com</a:t>
            </a:r>
            <a:r>
              <a:rPr lang="bs-Latn-BA" sz="1200" baseline="0" dirty="0">
                <a:solidFill>
                  <a:schemeClr val="bg1">
                    <a:lumMod val="65000"/>
                  </a:schemeClr>
                </a:solidFill>
              </a:rPr>
              <a:t>!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BA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prezentr.com/?utm_source=templates&amp;utm_medium=presentation&amp;utm_campaign=free_downloads_202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0.png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690A4DCE-900A-874A-B628-D52BB5C182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Analysis in Delivery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0474" y="4864209"/>
            <a:ext cx="8023861" cy="648380"/>
          </a:xfrm>
        </p:spPr>
        <p:txBody>
          <a:bodyPr/>
          <a:lstStyle/>
          <a:p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&amp; Revenue Loss Investigation</a:t>
            </a:r>
            <a:endParaRPr lang="en-US" b="1" dirty="0">
              <a:solidFill>
                <a:srgbClr val="FDBC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DDB8B-469D-9A29-1440-52FF10F756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2740855" y="911094"/>
            <a:ext cx="6710290" cy="205388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736B87-1A5B-3E6B-0741-F1D35F829547}"/>
              </a:ext>
            </a:extLst>
          </p:cNvPr>
          <p:cNvSpPr txBox="1">
            <a:spLocks/>
          </p:cNvSpPr>
          <p:nvPr/>
        </p:nvSpPr>
        <p:spPr>
          <a:xfrm>
            <a:off x="2084069" y="5831268"/>
            <a:ext cx="8023861" cy="648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Analyst: Igor Azevedo de Queiroz</a:t>
            </a:r>
            <a:endParaRPr lang="en-US" b="1" dirty="0">
              <a:solidFill>
                <a:srgbClr val="FDBC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9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1F0FB-5829-4949-9E35-841A9DF3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1485918"/>
            <a:ext cx="8573265" cy="2852737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1.Business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FCE3B-D4B3-6743-AC05-A671F006A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093" y="4563338"/>
            <a:ext cx="9200522" cy="22946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problem?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is reporting the issue?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is a solution requested?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solve the problem?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64CCC-B744-637C-22AE-3A61E548A6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2339119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6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7566" y="275655"/>
            <a:ext cx="11736868" cy="5020621"/>
          </a:xfrm>
        </p:spPr>
        <p:txBody>
          <a:bodyPr wrap="square">
            <a:normAutofit fontScale="25000" lnSpcReduction="20000"/>
          </a:bodyPr>
          <a:lstStyle/>
          <a:p>
            <a:pPr marL="0" indent="0">
              <a:buNone/>
            </a:pPr>
            <a:r>
              <a:rPr lang="en-IE" sz="11200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problem ? / Who is reporting the issue?</a:t>
            </a:r>
            <a:endParaRPr lang="en-IE" sz="11200" kern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customers have reported missing items in deliveries marked as completed. Possible causes include </a:t>
            </a:r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fraud, operational errors, or fraudulent refund claims by customers</a:t>
            </a:r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operations team have requested the data analyst to </a:t>
            </a:r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causes and develop a framework to detect and prevent delivery-related fraud.</a:t>
            </a:r>
            <a:endParaRPr lang="en-IE" sz="8800" kern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IE" sz="7200" kern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1200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is a solution requested?</a:t>
            </a:r>
          </a:p>
          <a:p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satisfaction is decreasing </a:t>
            </a:r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missing items in completed deliveries.</a:t>
            </a:r>
          </a:p>
          <a:p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losses are increasing </a:t>
            </a:r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due to customer refunds related to reported missing items.</a:t>
            </a:r>
          </a:p>
          <a:p>
            <a:pPr marL="0" lvl="0" indent="0">
              <a:buNone/>
            </a:pPr>
            <a:endParaRPr lang="en-US" sz="7200" b="1" kern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E" sz="11200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solve the problem? </a:t>
            </a:r>
          </a:p>
          <a:p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Proceed with a </a:t>
            </a:r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descriptive analysis to identify risk patterns and anomalous behaviors</a:t>
            </a:r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mainly concerning customers, drivers, and potential system errors, that may indicate fraudulent delivery activities.</a:t>
            </a:r>
          </a:p>
          <a:p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</a:t>
            </a:r>
            <a:r>
              <a:rPr lang="en-US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framework </a:t>
            </a:r>
            <a:r>
              <a:rPr lang="en-US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estimate the likelihood of risk in future deliveries.</a:t>
            </a:r>
          </a:p>
          <a:p>
            <a:pPr marL="0" lv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59971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7EED19-1E99-B3B2-E057-EFA3BCF3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29CE-6A59-9972-C5E0-3628255C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2" y="1485918"/>
            <a:ext cx="8573265" cy="2852737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2.Data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3B9A8-C477-0682-878A-7EAB5ACFC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092" y="4563338"/>
            <a:ext cx="11117289" cy="22946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is composed of five distinct tables, each operating at a different level of granularity. Understanding these differences is essential to avoid incorrect aggregations and misleading conclusions during the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C9A3B-F50F-15A8-F07D-C3E2D9D4A7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2" y="2290993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9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6A7C51-DAE0-8A97-A85D-73C4DB21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1197-E2A7-1403-0ED5-7BFD7BA4DC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80354" y="2864717"/>
            <a:ext cx="2787089" cy="475259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Analysed: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8D460E-742E-B9D6-B967-9A3DFDDC5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558440"/>
              </p:ext>
            </p:extLst>
          </p:nvPr>
        </p:nvGraphicFramePr>
        <p:xfrm>
          <a:off x="331496" y="239328"/>
          <a:ext cx="5554092" cy="2391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092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Items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BE9155-8E25-A63D-4624-117E9B015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17619"/>
              </p:ext>
            </p:extLst>
          </p:nvPr>
        </p:nvGraphicFramePr>
        <p:xfrm>
          <a:off x="5885588" y="239328"/>
          <a:ext cx="5554092" cy="239102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54092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Delivery transactions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characteristics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profiles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details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2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Reported discrepancies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76CDDCF5-D59A-21C0-9C45-B22713D329F7}"/>
              </a:ext>
            </a:extLst>
          </p:cNvPr>
          <p:cNvSpPr txBox="1">
            <a:spLocks/>
          </p:cNvSpPr>
          <p:nvPr/>
        </p:nvSpPr>
        <p:spPr>
          <a:xfrm>
            <a:off x="3308911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314 Products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E39C77F-91E7-881A-DAD9-C25BD76B0E07}"/>
              </a:ext>
            </a:extLst>
          </p:cNvPr>
          <p:cNvSpPr txBox="1">
            <a:spLocks/>
          </p:cNvSpPr>
          <p:nvPr/>
        </p:nvSpPr>
        <p:spPr>
          <a:xfrm>
            <a:off x="5573899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1247 Drivers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E8F175-9889-0A7A-7398-9083E64B2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116" y="3518024"/>
            <a:ext cx="1127138" cy="1127138"/>
          </a:xfrm>
          <a:prstGeom prst="rect">
            <a:avLst/>
          </a:prstGeom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6C9446F1-4088-8D00-AE47-181206B60D3B}"/>
              </a:ext>
            </a:extLst>
          </p:cNvPr>
          <p:cNvSpPr txBox="1">
            <a:spLocks/>
          </p:cNvSpPr>
          <p:nvPr/>
        </p:nvSpPr>
        <p:spPr>
          <a:xfrm>
            <a:off x="1043923" y="3332960"/>
            <a:ext cx="2209573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10000 Orders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BB6C3D3-2FE6-6563-8D5A-C267BA8919E4}"/>
              </a:ext>
            </a:extLst>
          </p:cNvPr>
          <p:cNvSpPr txBox="1">
            <a:spLocks/>
          </p:cNvSpPr>
          <p:nvPr/>
        </p:nvSpPr>
        <p:spPr>
          <a:xfrm>
            <a:off x="7838887" y="3332960"/>
            <a:ext cx="2620566" cy="284325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1239 Customers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AB580CF-C288-6311-5095-ABC3A4C75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497" y="3518023"/>
            <a:ext cx="1127138" cy="112713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34EFA0D-A779-0CA7-0C6C-966F1000F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600" y="3518023"/>
            <a:ext cx="1127139" cy="11271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396A625-50FC-1274-5597-EF50F51E16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485" y="3518023"/>
            <a:ext cx="1127138" cy="112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965C51-93F5-4063-C1C7-F41C0178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794B-EA70-9F21-B373-CC7CEDDB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1240325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D7867-5D3B-E9CC-B71B-1A2A1920C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093" y="2544030"/>
            <a:ext cx="9200522" cy="4313970"/>
          </a:xfrm>
        </p:spPr>
        <p:txBody>
          <a:bodyPr>
            <a:normAutofit fontScale="47500" lnSpcReduction="20000"/>
          </a:bodyPr>
          <a:lstStyle/>
          <a:p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is divided into eight parts.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59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 &amp; Dimensions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(Response Metrics)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Analysis (Operational Monitoring)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Analytical Narrative (H1-H12)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9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Key Findings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49333-5897-9775-9BAE-A56401CA95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512772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B7A86A-EBC4-F6DB-D7F8-6C010F00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43F1-88CE-5D82-3850-4396A69C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C157C-3CCF-9EED-37BF-3AFBDBA8E9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990407"/>
            <a:ext cx="10786610" cy="445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is not to classify orders as fraudulent, but to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investigations and preventive actions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identifying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patterns and anomalous behaviors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follows a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Fact–Dimension framework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combining operational, driver, customer, and product data to detect patterns related to missing items.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IE" b="1" kern="1500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(Open) Questions</a:t>
            </a:r>
            <a:endParaRPr lang="en-IE" sz="2200" b="1" kern="15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delivery-related fraud risk be identified and reduced?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there observable patterns in delivery data that indicate higher risk of missing items?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46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923AEC-3956-4393-4B51-7F0D0FC8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4D7C0-384F-948F-94E0-9F07ED73A48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9" y="275182"/>
            <a:ext cx="10786610" cy="5998869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 Questions</a:t>
            </a:r>
            <a:endParaRPr lang="en-IE" sz="2200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categories guide the analysis:</a:t>
            </a:r>
          </a:p>
          <a:p>
            <a:pPr marL="0" indent="0">
              <a:buNone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Impact-Level Questions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the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and financial impact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missing items.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many items were not delivered?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total revenue loss?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Risk-Oriented Questions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concentration across key dimensions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certain drivers have higher missing item rates?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missing reports concentrated among customers?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some product categories more frequently missing?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certain regions show higher missing rates?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there a relationship between delivery time and missing items?</a:t>
            </a: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95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1C4364-7D48-9A4A-3B6F-9EFA41C83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4304-34E5-FF9A-D3AE-0BFDFD88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239496"/>
            <a:ext cx="9998958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 &amp; Dimensions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C62-A8A1-BCB3-25C6-264FD14280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1992" y="864495"/>
            <a:ext cx="11184962" cy="6051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Metrics (Core KPIs)</a:t>
            </a:r>
            <a:endParaRPr lang="en-IE" sz="2200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75A452-14F8-E0AC-21EF-3145B3608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11869"/>
              </p:ext>
            </p:extLst>
          </p:nvPr>
        </p:nvGraphicFramePr>
        <p:xfrm>
          <a:off x="321992" y="1473579"/>
          <a:ext cx="3752067" cy="2587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2067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Metrics: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Items Incidence Rate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641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Missing Items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625642">
                <a:tc>
                  <a:txBody>
                    <a:bodyPr/>
                    <a:lstStyle/>
                    <a:p>
                      <a:r>
                        <a:rPr lang="en-IE" sz="18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Missing Items Rate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53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Revenue Loss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8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Revenue Loss Rate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E92C06-011A-ECA0-03CA-6470352E5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239635"/>
              </p:ext>
            </p:extLst>
          </p:nvPr>
        </p:nvGraphicFramePr>
        <p:xfrm>
          <a:off x="4042372" y="1469600"/>
          <a:ext cx="7827636" cy="259575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27636">
                  <a:extLst>
                    <a:ext uri="{9D8B030D-6E8A-4147-A177-3AD203B41FA5}">
                      <a16:colId xmlns:a16="http://schemas.microsoft.com/office/drawing/2014/main" val="2348880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E" sz="2800" b="1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Descriptions: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71383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Frequency of occurrence - Percentage of order with at least one missing item.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6292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Error intensity (severity) -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number of items missing per order.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967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 (Operational) Impact - </a:t>
                      </a:r>
                      <a:r>
                        <a:rPr lang="en-IE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Missing items relative to the total number of delivered items.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1716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intensity (severity) -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revenue loss per order due to missing items.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112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8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 (Financial) impact - </a:t>
                      </a:r>
                      <a:r>
                        <a:rPr lang="en-IE" sz="1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relative to the total order value.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406677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CD7255-A867-BEDB-3FD5-81C79795B1BD}"/>
              </a:ext>
            </a:extLst>
          </p:cNvPr>
          <p:cNvSpPr txBox="1">
            <a:spLocks/>
          </p:cNvSpPr>
          <p:nvPr/>
        </p:nvSpPr>
        <p:spPr>
          <a:xfrm>
            <a:off x="258618" y="4293778"/>
            <a:ext cx="11184962" cy="2127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11200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Supporting Metrics (Proxy Metrics)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sz="4400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E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</a:t>
            </a:r>
            <a:r>
              <a:rPr lang="en-IE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and scale</a:t>
            </a:r>
            <a:r>
              <a:rPr lang="en-IE" sz="8800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not for direct comparisons due to volume bias.</a:t>
            </a:r>
            <a:endParaRPr lang="en-IE" sz="4400" kern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E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Loss</a:t>
            </a:r>
          </a:p>
          <a:p>
            <a:r>
              <a:rPr lang="en-IE" sz="8800" b="1" kern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Missing Items</a:t>
            </a:r>
          </a:p>
        </p:txBody>
      </p:sp>
    </p:spTree>
    <p:extLst>
      <p:ext uri="{BB962C8B-B14F-4D97-AF65-F5344CB8AC3E}">
        <p14:creationId xmlns:p14="http://schemas.microsoft.com/office/powerpoint/2010/main" val="363663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095BAC-B22E-94CC-267F-B4858E0D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C309-18B5-A483-9A36-58BC3027C5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1992" y="223773"/>
            <a:ext cx="11184962" cy="60510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</a:t>
            </a:r>
            <a:endParaRPr lang="en-IE" sz="2200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F00F21-539E-6A81-D681-161FD6E1C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233" y="828878"/>
            <a:ext cx="7128479" cy="46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0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F0857E-61F9-12D5-026A-2FAFEDC5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F3463-0849-8B1D-1B5E-985688E5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69877"/>
            <a:ext cx="6738345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D294-72C7-8FD0-C068-0DF597DA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808917"/>
            <a:ext cx="10786610" cy="693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address the research questions and generate actionable insights,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hypothesis were tested across five key dimensions using the defined metrics.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F860BC-BE88-71D4-81FC-30916C8D9DA9}"/>
              </a:ext>
            </a:extLst>
          </p:cNvPr>
          <p:cNvSpPr txBox="1">
            <a:spLocks/>
          </p:cNvSpPr>
          <p:nvPr/>
        </p:nvSpPr>
        <p:spPr>
          <a:xfrm>
            <a:off x="179697" y="1477610"/>
            <a:ext cx="5472226" cy="450767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4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H1 - Missing item and revenue loss rates increase during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night deliveries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H2 - Missing item and revenue loss rates increase during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peak periods 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summer and year-end).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H3 - Missing item and revenue loss rates are higher on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weekends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64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H4 - Missing item rates differ across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H5 – The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monetary loss per missing item 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varies by region.</a:t>
            </a:r>
          </a:p>
          <a:p>
            <a:pPr marL="0" indent="0">
              <a:buNone/>
            </a:pPr>
            <a:r>
              <a:rPr lang="en-US" sz="64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H6 -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disproportionate revenue loss and missing item rate.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H7 - Missing item frequency and revenue loss are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inversely related to product price.</a:t>
            </a:r>
          </a:p>
          <a:p>
            <a:pPr marL="0" indent="0">
              <a:buNone/>
            </a:pP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H8 - Watches and beverages are </a:t>
            </a:r>
            <a:r>
              <a:rPr lang="en-US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frequently reported missing.</a:t>
            </a:r>
            <a:r>
              <a:rPr lang="en-US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6F3930-2D2D-4C51-8E59-D667F143909E}"/>
              </a:ext>
            </a:extLst>
          </p:cNvPr>
          <p:cNvSpPr txBox="1">
            <a:spLocks/>
          </p:cNvSpPr>
          <p:nvPr/>
        </p:nvSpPr>
        <p:spPr>
          <a:xfrm>
            <a:off x="6096000" y="1502455"/>
            <a:ext cx="5610131" cy="4137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H9 - Missing item and revenue loss rates differ across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age groups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H10 - Drivers with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IDs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higher missing item and revenue loss rates.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H11 - Missing item and revenue loss rates differ across driver age groups.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H12 - Missing item and revenue loss rates increase with driver trip volume.</a:t>
            </a:r>
          </a:p>
        </p:txBody>
      </p:sp>
    </p:spTree>
    <p:extLst>
      <p:ext uri="{BB962C8B-B14F-4D97-AF65-F5344CB8AC3E}">
        <p14:creationId xmlns:p14="http://schemas.microsoft.com/office/powerpoint/2010/main" val="1121387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5DAE0C-FF4D-D80F-F27D-92451E80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2D9F-E4C4-AE07-CADC-9CAF0040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 (Supporting Metrics)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19ED58-B3B1-2473-F870-AAEAC83BECCF}"/>
              </a:ext>
            </a:extLst>
          </p:cNvPr>
          <p:cNvSpPr txBox="1">
            <a:spLocks/>
          </p:cNvSpPr>
          <p:nvPr/>
        </p:nvSpPr>
        <p:spPr>
          <a:xfrm>
            <a:off x="1480522" y="996984"/>
            <a:ext cx="3137155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Missing Items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D544FA-7E43-6568-94C2-A9FD65F3BFAD}"/>
              </a:ext>
            </a:extLst>
          </p:cNvPr>
          <p:cNvSpPr txBox="1">
            <a:spLocks/>
          </p:cNvSpPr>
          <p:nvPr/>
        </p:nvSpPr>
        <p:spPr>
          <a:xfrm>
            <a:off x="6240765" y="972105"/>
            <a:ext cx="3137155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E" b="1" kern="1500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Loss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02BAF7E-2234-8E3B-C9CC-C4A9FDBD9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397" y="1439817"/>
            <a:ext cx="1095890" cy="10958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93FACE-B4D4-4980-BD73-F2CD5E6F24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55" y="1439817"/>
            <a:ext cx="1095890" cy="10958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5AC8ED0-4BB1-AEB5-8FC7-493115EF7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277" y="2535707"/>
            <a:ext cx="5856133" cy="2703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F46C53-1A88-308B-FB52-A0C49F82F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24" y="2501210"/>
            <a:ext cx="4056380" cy="313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0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5ACA15-338E-AEB7-7C1C-E13C1EA4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D30B-DAD7-F7B3-2298-06FCC119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4DA74C-7FE4-A558-BB78-14D034C934E3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H1 - Missing item and revenue loss rates increase during night deliveries.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AFF5B3-B51A-530A-8984-6A9DBFA57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126553"/>
            <a:ext cx="11725717" cy="283321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3FAD5B7-2ACB-24FE-A657-8818B6CDA18E}"/>
              </a:ext>
            </a:extLst>
          </p:cNvPr>
          <p:cNvSpPr txBox="1">
            <a:spLocks/>
          </p:cNvSpPr>
          <p:nvPr/>
        </p:nvSpPr>
        <p:spPr>
          <a:xfrm>
            <a:off x="171450" y="3867765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 deliveries show higher missing items and revenue loss frequency and dispersion,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indicating greater operational instability and potential fraud exposure.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16.1%	        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15.88%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17.7%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Weighted Revenue Loss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5.67%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1.77%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4009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44A47-3321-552C-6B70-ED8242D7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67280F-3F3C-A5DE-85AA-DA0DD7961C8C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H2 - </a:t>
            </a:r>
            <a:r>
              <a:rPr lang="en-US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and revenue loss rates increase during seasonal peak periods (e.g., summer and year-end).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8BAB522-127B-1D14-ECC1-C31E09500DE2}"/>
              </a:ext>
            </a:extLst>
          </p:cNvPr>
          <p:cNvSpPr txBox="1">
            <a:spLocks/>
          </p:cNvSpPr>
          <p:nvPr/>
        </p:nvSpPr>
        <p:spPr>
          <a:xfrm>
            <a:off x="85726" y="3815542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peak periods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significantly increase operational or financial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16.99%		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19.76%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18.43%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Highest Weighted Revenue Loss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March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6.95%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1.86%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DDA74-81A3-275D-7E72-580BA15E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6" y="734682"/>
            <a:ext cx="11887198" cy="308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8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17A32E-5B27-5A93-01A5-9C5906EA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1992A8-DBD0-6F76-1943-36D2A26F5CFC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H3 - Missing item and revenue loss rates are higher on weekends.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A2D55-D71B-FA7A-0347-18EA7B8D6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90" y="562482"/>
            <a:ext cx="9886949" cy="286651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1B3927A-339F-6B91-D101-36DE04485F8C}"/>
              </a:ext>
            </a:extLst>
          </p:cNvPr>
          <p:cNvSpPr txBox="1">
            <a:spLocks/>
          </p:cNvSpPr>
          <p:nvPr/>
        </p:nvSpPr>
        <p:spPr>
          <a:xfrm>
            <a:off x="104776" y="3605992"/>
            <a:ext cx="11166978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risk appears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concentrated at the beginning of the week rather than during weekends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although Saturday still represents a relevant risk window.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16.08%	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19.96%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17.83%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Highest Weighted Revenue Loss Rate: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7.08%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Monday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1.82%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3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2A7F0D-0BE2-CAC2-ED57-79BE4E69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BEDD-1947-2B69-4517-5923C40D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83D1F4-AB9D-A179-A2BA-4513B049906B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H4 - Missing item rates differ across regions</a:t>
            </a: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55E9760-F486-7041-0509-1970C2626AD0}"/>
              </a:ext>
            </a:extLst>
          </p:cNvPr>
          <p:cNvSpPr txBox="1">
            <a:spLocks/>
          </p:cNvSpPr>
          <p:nvPr/>
        </p:nvSpPr>
        <p:spPr>
          <a:xfrm>
            <a:off x="7239000" y="1158098"/>
            <a:ext cx="4772025" cy="17566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(Weak-to-Moderate Evidence).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variation exists, but differences are moderate (range: 1.53% – 1.79%).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region shows extreme or abnormal behaviour.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02B5F-A249-23E0-C7E0-0862E0184A57}"/>
              </a:ext>
            </a:extLst>
          </p:cNvPr>
          <p:cNvSpPr txBox="1"/>
          <p:nvPr/>
        </p:nvSpPr>
        <p:spPr>
          <a:xfrm>
            <a:off x="7239000" y="2724265"/>
            <a:ext cx="386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Altamonte Springs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16.20%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17.74%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1.79%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7F707-A394-815A-7DDD-64DD240CFFC6}"/>
              </a:ext>
            </a:extLst>
          </p:cNvPr>
          <p:cNvSpPr txBox="1"/>
          <p:nvPr/>
        </p:nvSpPr>
        <p:spPr>
          <a:xfrm>
            <a:off x="7239000" y="4050048"/>
            <a:ext cx="386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Risk Region: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Kissimmee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Incidence: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14.36%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15.41%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Missing Items Rate: 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1.52%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DD9B48-B6E3-A26C-7B27-3F1669A1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32" y="1158098"/>
            <a:ext cx="6944168" cy="455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1B6420-0BE2-EEBE-A847-693ED85AA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BE8971-A298-8F95-BAD2-C08B6C7280B8}"/>
              </a:ext>
            </a:extLst>
          </p:cNvPr>
          <p:cNvSpPr txBox="1">
            <a:spLocks/>
          </p:cNvSpPr>
          <p:nvPr/>
        </p:nvSpPr>
        <p:spPr>
          <a:xfrm>
            <a:off x="245991" y="234217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H5 - The average monetary loss per missing item varies by region.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2361B41-8651-26C0-F8FE-037F78E0F708}"/>
              </a:ext>
            </a:extLst>
          </p:cNvPr>
          <p:cNvSpPr txBox="1">
            <a:spLocks/>
          </p:cNvSpPr>
          <p:nvPr/>
        </p:nvSpPr>
        <p:spPr>
          <a:xfrm>
            <a:off x="7629869" y="800829"/>
            <a:ext cx="4316140" cy="1942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per missing item varies significantly by region.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 shows the highest financial impact about 55% higher than Sanford, indicating a higher concentration of high-value missing products.</a:t>
            </a:r>
          </a:p>
          <a:p>
            <a:pPr marL="0" indent="0">
              <a:buNone/>
            </a:pP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34CD2-F51D-770A-9418-5B6558C9B1DA}"/>
              </a:ext>
            </a:extLst>
          </p:cNvPr>
          <p:cNvSpPr txBox="1"/>
          <p:nvPr/>
        </p:nvSpPr>
        <p:spPr>
          <a:xfrm>
            <a:off x="7629869" y="3001634"/>
            <a:ext cx="3867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Orlando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19.49%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 Rate: </a:t>
            </a:r>
            <a:r>
              <a:rPr lang="en-IE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.89%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6E036-BF20-7A52-DECD-5DC9913CD6FA}"/>
              </a:ext>
            </a:extLst>
          </p:cNvPr>
          <p:cNvSpPr txBox="1"/>
          <p:nvPr/>
        </p:nvSpPr>
        <p:spPr>
          <a:xfrm>
            <a:off x="7629869" y="4030998"/>
            <a:ext cx="3867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Lowest Risk Region: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Sanford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12.56%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</a:t>
            </a:r>
            <a:r>
              <a:rPr lang="en-IE" sz="18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Rate: </a:t>
            </a:r>
            <a:r>
              <a:rPr lang="en-IE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IE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.36%</a:t>
            </a: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7F9C70-9A8B-7940-19F1-A524DC5F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9" y="609600"/>
            <a:ext cx="7400750" cy="50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4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E7956A-8938-5E09-5511-40D926E0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2631-6EC3-2FCE-9C0E-372B2D324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6BD08-7FE0-BEFB-A3F6-B22D8B77C998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H6 - Electronics generate disproportionate revenue loss and missing item rate.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C5EF95-E6FF-CED5-49A0-659CCD26C4FC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(supported for Revenue Loss, not supported for Missing Items).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issues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concentrated in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items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represent the largest financial risk per incident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C574D-4339-60F1-464A-A5F63AE83FED}"/>
              </a:ext>
            </a:extLst>
          </p:cNvPr>
          <p:cNvSpPr txBox="1"/>
          <p:nvPr/>
        </p:nvSpPr>
        <p:spPr>
          <a:xfrm>
            <a:off x="4743450" y="4496768"/>
            <a:ext cx="66389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electronics generate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~5× higher total revenue loss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Revenue Loss average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$496.53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revenue loss average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$20.35.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missing events are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24x more financially                severe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implication.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C4A9C-E969-35FB-1C4E-3D0720B26847}"/>
              </a:ext>
            </a:extLst>
          </p:cNvPr>
          <p:cNvSpPr txBox="1"/>
          <p:nvPr/>
        </p:nvSpPr>
        <p:spPr>
          <a:xfrm>
            <a:off x="171450" y="449676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items account for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83.8% of missing items.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represent only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16.2% of missing items incidents.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E2223-B682-7838-AFF9-E55F8AF74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1" y="1073753"/>
            <a:ext cx="11725718" cy="262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1F7B4E-2EC6-D52E-D923-9BCE2618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FCF41F-A6A3-46B9-A9E2-F6EDE3CFC11D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H7 - Missing item frequency and revenue loss are inversely related to product price.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700BBE-82AE-A90A-A4CF-1A3D54652D23}"/>
              </a:ext>
            </a:extLst>
          </p:cNvPr>
          <p:cNvSpPr txBox="1">
            <a:spLocks/>
          </p:cNvSpPr>
          <p:nvPr/>
        </p:nvSpPr>
        <p:spPr>
          <a:xfrm>
            <a:off x="1251171" y="3429000"/>
            <a:ext cx="11062203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partially supported (not supported for Revenue Loss, supported for Missing Items).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Low-price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products drive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volume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high-price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products drive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risk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missing items share rate occurs in low price ($10–25) products (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50% of missing items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low-price products ($0–10) also show elevated missing items share rates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(34% of missing items)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products generate the largest revenue loss with revenue loss average of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$584.01,                           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followed by very high products with revenue loss average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$213.98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price products generate the highest total loss due to order volume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$20,454,5600</a:t>
            </a:r>
          </a:p>
          <a:p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items create higher financial exposure per incident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70B159-434B-B09F-2813-85BB49E84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562208"/>
            <a:ext cx="11753847" cy="277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2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F2E098-9E2B-E163-14A1-6E38F9CB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4AF070-3809-5F27-F46D-20D91CFBFA3E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H8 - Watches and beverages are more frequently reported missing. </a:t>
            </a:r>
          </a:p>
          <a:p>
            <a:pPr marL="0" indent="0"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729042-1B69-4AF1-FC5E-5FF36E9E153C}"/>
              </a:ext>
            </a:extLst>
          </p:cNvPr>
          <p:cNvSpPr txBox="1">
            <a:spLocks/>
          </p:cNvSpPr>
          <p:nvPr/>
        </p:nvSpPr>
        <p:spPr>
          <a:xfrm>
            <a:off x="7658100" y="685232"/>
            <a:ext cx="4314824" cy="4966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patterns appear to be driven more by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high-demand products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rather than specific product types such as watches or beverages.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 missing items are mainly: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Earbuds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accessories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 electronics devices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Supermarket missing items are mainly: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Meat and protein products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Dairy items</a:t>
            </a:r>
          </a:p>
          <a:p>
            <a:pPr lvl="0"/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Pantry staples</a:t>
            </a:r>
          </a:p>
          <a:p>
            <a:pPr marL="0" indent="0">
              <a:buNone/>
            </a:pP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943921-8AEE-49A2-98C3-16A2F3050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06397"/>
              </p:ext>
            </p:extLst>
          </p:nvPr>
        </p:nvGraphicFramePr>
        <p:xfrm>
          <a:off x="2424301" y="1082200"/>
          <a:ext cx="1265654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5654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6E1D56-E9FA-BFF7-D063-275042252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105309"/>
              </p:ext>
            </p:extLst>
          </p:nvPr>
        </p:nvGraphicFramePr>
        <p:xfrm>
          <a:off x="148619" y="1082200"/>
          <a:ext cx="226377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775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Bose QuietComfort Earbuds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Logitech Mouse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Dell XPS 13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Beats Studio Pro Headphone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Nest Thermostat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Dyson V11 Vacuum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JBL Flip Speaker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HP Envy Printer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Roku Ultra Streaming Device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Panasonic Lumix Camera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22F0636-4C82-2E2C-2E75-66C9F35D7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292244"/>
              </p:ext>
            </p:extLst>
          </p:nvPr>
        </p:nvGraphicFramePr>
        <p:xfrm>
          <a:off x="3832225" y="1082200"/>
          <a:ext cx="233362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Chicken Breast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Ground Coffee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Cheddar Cheese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Frozen Shrimp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Uncured Bacon</a:t>
                      </a:r>
                      <a:endParaRPr lang="en-IE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Peanut Butter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Canned Tuna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Rice Cakes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Turkey Burgers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Broccoli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3F77C1A-CE99-6A38-D2FF-A1327AE20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112892"/>
              </p:ext>
            </p:extLst>
          </p:nvPr>
        </p:nvGraphicFramePr>
        <p:xfrm>
          <a:off x="6165850" y="1082200"/>
          <a:ext cx="1397000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26048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00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88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3572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65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09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5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54373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308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34247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3044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346364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728978D-2E53-B980-9E57-0F8DEC10EA9C}"/>
              </a:ext>
            </a:extLst>
          </p:cNvPr>
          <p:cNvSpPr txBox="1">
            <a:spLocks/>
          </p:cNvSpPr>
          <p:nvPr/>
        </p:nvSpPr>
        <p:spPr>
          <a:xfrm>
            <a:off x="148619" y="685232"/>
            <a:ext cx="3541336" cy="446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Missing by Electronics Products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7BAC30-D643-4163-BBB8-8325111DF911}"/>
              </a:ext>
            </a:extLst>
          </p:cNvPr>
          <p:cNvSpPr txBox="1">
            <a:spLocks/>
          </p:cNvSpPr>
          <p:nvPr/>
        </p:nvSpPr>
        <p:spPr>
          <a:xfrm>
            <a:off x="3832225" y="685232"/>
            <a:ext cx="3730625" cy="446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Items Missing by Supermarket Products</a:t>
            </a:r>
          </a:p>
        </p:txBody>
      </p:sp>
    </p:spTree>
    <p:extLst>
      <p:ext uri="{BB962C8B-B14F-4D97-AF65-F5344CB8AC3E}">
        <p14:creationId xmlns:p14="http://schemas.microsoft.com/office/powerpoint/2010/main" val="25320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1962B39-5CF2-36CD-1A9D-AD061B27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BD1A-D9BF-0105-F401-53368A1B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6E32CC-AFE4-044B-FDCF-25F7BBB1688E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H9 - Missing item and revenue loss rates differ across customer age groups.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141375D-F69C-9A2F-4C30-2DD6A06ED8E7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weakly/partially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age segments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the financial consequences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missing items, however, it has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minimal impact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missing items rate,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suggesting that operational issues are evenly distributed across customer segments.</a:t>
            </a:r>
            <a:endParaRPr lang="en-IE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F34BA-5665-243D-94C5-55A72A3A05AB}"/>
              </a:ext>
            </a:extLst>
          </p:cNvPr>
          <p:cNvSpPr txBox="1"/>
          <p:nvPr/>
        </p:nvSpPr>
        <p:spPr>
          <a:xfrm>
            <a:off x="5289784" y="46983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 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rate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(6.56%)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Middle-aged customers show the lowest loss                     rate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(4.70%)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Seniors generate the highest total loss                                   due to order volume                                                                     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$ 59,475,2200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442F8-B8BD-FB14-B702-31FF417C7236}"/>
              </a:ext>
            </a:extLst>
          </p:cNvPr>
          <p:cNvSpPr txBox="1"/>
          <p:nvPr/>
        </p:nvSpPr>
        <p:spPr>
          <a:xfrm>
            <a:off x="1994" y="4722965"/>
            <a:ext cx="5287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issing items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1.59% to 1.73%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Middle-aged customers show the lowest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9D3DB7-C52F-F313-0819-0FFE03D28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1" y="1080455"/>
            <a:ext cx="11725717" cy="261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6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CE8EBF-7819-F1DD-8280-F7B1A7CD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FCDA-3E18-F981-B73A-FD09B6B1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32" y="-167465"/>
            <a:ext cx="1017097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Validation - </a:t>
            </a:r>
            <a:r>
              <a:rPr lang="en-US" dirty="0">
                <a:solidFill>
                  <a:srgbClr val="FDBC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DD01E2-A9E6-6CF4-E021-365E6C6139E0}"/>
              </a:ext>
            </a:extLst>
          </p:cNvPr>
          <p:cNvSpPr txBox="1">
            <a:spLocks/>
          </p:cNvSpPr>
          <p:nvPr/>
        </p:nvSpPr>
        <p:spPr>
          <a:xfrm>
            <a:off x="294832" y="748388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H10 - Drivers with multiple IDs show higher missing item and revenue loss rates.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887DEE-0204-A6BA-3FA2-8C86F63EC46E}"/>
              </a:ext>
            </a:extLst>
          </p:cNvPr>
          <p:cNvSpPr txBox="1">
            <a:spLocks/>
          </p:cNvSpPr>
          <p:nvPr/>
        </p:nvSpPr>
        <p:spPr>
          <a:xfrm>
            <a:off x="5286506" y="1263045"/>
            <a:ext cx="6734044" cy="1205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 (but with limited evidence.).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associated with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IDs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exhibit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missing item rates and higher revenue loss rates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compared to drivers operating under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BA15C-7C5A-0705-D71C-1D74F0D331FB}"/>
              </a:ext>
            </a:extLst>
          </p:cNvPr>
          <p:cNvSpPr txBox="1"/>
          <p:nvPr/>
        </p:nvSpPr>
        <p:spPr>
          <a:xfrm>
            <a:off x="5286505" y="2625625"/>
            <a:ext cx="64739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 rate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76% higher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among multi-ID drivers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Missing Items Rate: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26.32% vs 14.93%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 rate is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49% higher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among multi-ID drivers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Revenue Loss Rate: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7.82% vs 5.25%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potential operational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A6F975-207C-ED64-30DC-1DC81D631A00}"/>
              </a:ext>
            </a:extLst>
          </p:cNvPr>
          <p:cNvSpPr txBox="1"/>
          <p:nvPr/>
        </p:nvSpPr>
        <p:spPr>
          <a:xfrm>
            <a:off x="5286505" y="4259416"/>
            <a:ext cx="48105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Multi-ID group represents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small sample size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9924 vs 76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statistical reliability of the comparison is 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Further investigation with a larger     sample is necessary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C93CA-9711-E930-AF1E-EB43E627B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09" y="1158098"/>
            <a:ext cx="4810568" cy="462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0AD3-CD76-4DC1-7B86-5BBA6F70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559685-A076-CBD9-A522-028DA2730D43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H11 - Missing item and revenue loss rates differ across driver age groups.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FB9B0-8F7C-D968-2080-D5582799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556996"/>
            <a:ext cx="11753847" cy="287200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6E1AE-CDA8-B025-EECE-3B3882A38115}"/>
              </a:ext>
            </a:extLst>
          </p:cNvPr>
          <p:cNvSpPr txBox="1">
            <a:spLocks/>
          </p:cNvSpPr>
          <p:nvPr/>
        </p:nvSpPr>
        <p:spPr>
          <a:xfrm>
            <a:off x="171450" y="3775058"/>
            <a:ext cx="11725718" cy="923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supported.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age may influence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rates slightly, but differences remain relatively small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however,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rates show stronger variation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groups,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potentially reflecting differences in workload, route complexity, or operational behavior.</a:t>
            </a:r>
          </a:p>
          <a:p>
            <a:pPr marL="0" indent="0">
              <a:buNone/>
            </a:pP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6A9A1D-51B6-9188-A432-E6B83594D903}"/>
              </a:ext>
            </a:extLst>
          </p:cNvPr>
          <p:cNvSpPr txBox="1"/>
          <p:nvPr/>
        </p:nvSpPr>
        <p:spPr>
          <a:xfrm>
            <a:off x="5190196" y="473201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8.24% to 3.35%</a:t>
            </a:r>
            <a:endParaRPr lang="en-I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show the highest</a:t>
            </a: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drivers show the lowest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E4798-36C1-612E-C29B-AD00F2DF6A93}"/>
              </a:ext>
            </a:extLst>
          </p:cNvPr>
          <p:cNvSpPr txBox="1"/>
          <p:nvPr/>
        </p:nvSpPr>
        <p:spPr>
          <a:xfrm>
            <a:off x="0" y="4732018"/>
            <a:ext cx="52877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m</a:t>
            </a: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issing items rates range from </a:t>
            </a:r>
            <a:r>
              <a:rPr lang="en-I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1.88% to 1.49%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Senior show the highest rate</a:t>
            </a:r>
            <a:endParaRPr lang="en-I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drivers show the lowest rate</a:t>
            </a:r>
          </a:p>
        </p:txBody>
      </p:sp>
    </p:spTree>
    <p:extLst>
      <p:ext uri="{BB962C8B-B14F-4D97-AF65-F5344CB8AC3E}">
        <p14:creationId xmlns:p14="http://schemas.microsoft.com/office/powerpoint/2010/main" val="2903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A2236B-1997-A602-32FE-9FE82AED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C79063-9765-E583-E609-4F8769E98C5B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0403303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H12 - Missing item and revenue loss rates increase with driver trip volume.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40E6A-6025-4754-400E-9BDAF1B7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615778"/>
            <a:ext cx="11753848" cy="29124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240526-AD8D-8494-A67F-C4FAF59D00BE}"/>
              </a:ext>
            </a:extLst>
          </p:cNvPr>
          <p:cNvSpPr txBox="1">
            <a:spLocks/>
          </p:cNvSpPr>
          <p:nvPr/>
        </p:nvSpPr>
        <p:spPr>
          <a:xfrm>
            <a:off x="406003" y="3528262"/>
            <a:ext cx="10029447" cy="2772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hypothesis is not supported.</a:t>
            </a:r>
          </a:p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Medium-volume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drivers show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 rates, while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high-volume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drivers show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lowest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suggesting experience effect,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highly active 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drivers develop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familiarity that reduces fulfilment errors.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weighted missing items rate occurs in medium (25-41) trips (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1.89%</a:t>
            </a:r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E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revenue loss rate </a:t>
            </a:r>
            <a:r>
              <a:rPr lang="en-IE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as trip volume increases (Low 5.82% - Very High 4.53%)</a:t>
            </a:r>
          </a:p>
          <a:p>
            <a:pPr marL="0" indent="0">
              <a:buNone/>
            </a:pPr>
            <a:endParaRPr lang="en-IE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3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D4DA22-A08D-F1D1-AD89-09342F4A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A39A-B1E1-2019-FB35-A9301EC1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614594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 Analysis (Operational Monitoring)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95E53-B317-5702-9597-6F6557355B4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1992" y="1203637"/>
            <a:ext cx="10786610" cy="4400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analysis highlights the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customers and drivers with highest number of:</a:t>
            </a:r>
          </a:p>
          <a:p>
            <a:pPr marL="0" indent="0">
              <a:buNone/>
            </a:pP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reported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loss generated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not used for hypothesis validation, this analysis supports:</a:t>
            </a: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alert identification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monitoring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 prioritization</a:t>
            </a: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83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D0EDEE-01F8-21B8-45ED-1582E955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465076-E980-44C3-A8C1-248C878A6E62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1182349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Customers with highest number of items missing reported and revenue loss generated.</a:t>
            </a:r>
          </a:p>
          <a:p>
            <a:pPr marL="0" indent="0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887C67-3729-FCDE-DCB1-C853EAC37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14709"/>
              </p:ext>
            </p:extLst>
          </p:nvPr>
        </p:nvGraphicFramePr>
        <p:xfrm>
          <a:off x="104775" y="544958"/>
          <a:ext cx="5306655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331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5649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Customers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Customers</a:t>
                      </a:r>
                    </a:p>
                    <a:p>
                      <a:pPr algn="l"/>
                      <a:endParaRPr lang="en-IE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Edward Henry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101.18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Shelley Gould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1467.61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Douglas Roth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88.16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Mccoy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1520.85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Victor Gonzalez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250.13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Timothy Daniel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245.49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WCID5339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Jerry Mullen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55.43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WCID6164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Karen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64.43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91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Raymond Chavez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49.63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WCID6096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Holly Stewart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38.76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Hopkins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830.19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WCID5817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Bradley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72.53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Carla Knox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689.41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911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Odonnell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42.75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2317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WCID5511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Hicks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245.75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599CCB-7682-9B9C-030D-38DC34FC3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635597"/>
              </p:ext>
            </p:extLst>
          </p:nvPr>
        </p:nvGraphicFramePr>
        <p:xfrm>
          <a:off x="5525730" y="544958"/>
          <a:ext cx="5306655" cy="458724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61331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1061331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6180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Customers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Customers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Kenneth Brown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1657.5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Brock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1594.95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Keith Jones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1571.26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Cook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1546.24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David Mccoy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1520.85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Shelley Gould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1467.61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Matthew Roberts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1305.11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WCID5964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John Scott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1276.4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WCID6128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Wilson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1189.16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WCID5180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William Owens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1122.08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328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WCID5733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Joseph Perry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1093.01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Mr. Gregory Luna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1088.32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Sanchez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1058.11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62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WCID5810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Thomas Wallace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979.65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1956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WCID5333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Lisa Martinez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923.67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B7CD7E-23C0-CCF2-5ADC-4F345A0E3298}"/>
              </a:ext>
            </a:extLst>
          </p:cNvPr>
          <p:cNvSpPr txBox="1">
            <a:spLocks/>
          </p:cNvSpPr>
          <p:nvPr/>
        </p:nvSpPr>
        <p:spPr>
          <a:xfrm>
            <a:off x="104776" y="519930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# of Missing Items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DFC2E3-5BA0-32AD-1C17-DFEAA9D10B23}"/>
              </a:ext>
            </a:extLst>
          </p:cNvPr>
          <p:cNvSpPr txBox="1">
            <a:spLocks/>
          </p:cNvSpPr>
          <p:nvPr/>
        </p:nvSpPr>
        <p:spPr>
          <a:xfrm>
            <a:off x="5525730" y="5225781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Revenue Loss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0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68CD3D-B4F2-E30A-030D-6A07F43C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CC6C45-C79E-0BB4-AA3D-73C26ECE212A}"/>
              </a:ext>
            </a:extLst>
          </p:cNvPr>
          <p:cNvSpPr txBox="1">
            <a:spLocks/>
          </p:cNvSpPr>
          <p:nvPr/>
        </p:nvSpPr>
        <p:spPr>
          <a:xfrm>
            <a:off x="219076" y="168070"/>
            <a:ext cx="11182349" cy="5666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15 Drivers with highest number of items missing reported and revenue loss generated.</a:t>
            </a:r>
          </a:p>
          <a:p>
            <a:pPr marL="0" indent="0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CFA97D-53A1-1623-44DF-AEC91DD18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60775"/>
              </p:ext>
            </p:extLst>
          </p:nvPr>
        </p:nvGraphicFramePr>
        <p:xfrm>
          <a:off x="104775" y="544963"/>
          <a:ext cx="5306658" cy="460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443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2657944701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760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Id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Name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Age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Trips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Items by Drivers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Drivers</a:t>
                      </a:r>
                    </a:p>
                    <a:p>
                      <a:pPr algn="l"/>
                      <a:endParaRPr lang="en-IE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Angela Young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1084.34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Charles Rios DVM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570.28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Winters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372.38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James White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Roger Green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482.64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Shane Palmer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600.96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Brittany Gordon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797.26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Daniel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46.95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Stephen Randolph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884.81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Billy Lawson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1310.38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Pamela Moore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58.03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Tracey Watkins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759.78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17687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Justin Parsons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60.18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26390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Cynthia Owens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916.8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34424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WDID09893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Mrs. Valerie Schwartz MD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371.49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628F4-8578-BAAF-E821-C20DF6D2C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311161"/>
              </p:ext>
            </p:extLst>
          </p:nvPr>
        </p:nvGraphicFramePr>
        <p:xfrm>
          <a:off x="5525730" y="544960"/>
          <a:ext cx="5306658" cy="45988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84443">
                  <a:extLst>
                    <a:ext uri="{9D8B030D-6E8A-4147-A177-3AD203B41FA5}">
                      <a16:colId xmlns:a16="http://schemas.microsoft.com/office/drawing/2014/main" val="2989787447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44778073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708138219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2240499625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1002444320"/>
                    </a:ext>
                  </a:extLst>
                </a:gridCol>
                <a:gridCol w="884443">
                  <a:extLst>
                    <a:ext uri="{9D8B030D-6E8A-4147-A177-3AD203B41FA5}">
                      <a16:colId xmlns:a16="http://schemas.microsoft.com/office/drawing/2014/main" val="3818257792"/>
                    </a:ext>
                  </a:extLst>
                </a:gridCol>
              </a:tblGrid>
              <a:tr h="4491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Age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Driver Trips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 of Missing by Drivers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Loss by Drivers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923354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Marc Waters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2044.08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1114091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Paul Leach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2034.34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7707627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Scott Carter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1889.86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38132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Patrick Hall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1869.39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6034730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WDID10387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Dalton Rogers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1731.45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99612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Patricia Vance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1683.03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9568209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Kelsey Mitchell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1681.77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265569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Heather King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1651.38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74439027"/>
                  </a:ext>
                </a:extLst>
              </a:tr>
              <a:tr h="23906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Alison Knight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1578.61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22000389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Joan Melton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1486.8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7679591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WDID10726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Lindsey Johnson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1423.54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7329647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WDID10734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Michael Zimmerman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1374.31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2675928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Leslie Powell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1363.22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777121"/>
                  </a:ext>
                </a:extLst>
              </a:tr>
              <a:tr h="3358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WDID10423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Robert Wright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1347.02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7954504"/>
                  </a:ext>
                </a:extLst>
              </a:tr>
              <a:tr h="3009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WDID10641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Chelsey Willis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1344.99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5390940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6BB305-DBB4-25B9-613A-6D5A5EEC6D5C}"/>
              </a:ext>
            </a:extLst>
          </p:cNvPr>
          <p:cNvSpPr txBox="1">
            <a:spLocks/>
          </p:cNvSpPr>
          <p:nvPr/>
        </p:nvSpPr>
        <p:spPr>
          <a:xfrm>
            <a:off x="104775" y="515357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# of Missing Items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91A4DB-25C5-31DA-5979-C4300F06DB20}"/>
              </a:ext>
            </a:extLst>
          </p:cNvPr>
          <p:cNvSpPr txBox="1">
            <a:spLocks/>
          </p:cNvSpPr>
          <p:nvPr/>
        </p:nvSpPr>
        <p:spPr>
          <a:xfrm>
            <a:off x="5525730" y="5153576"/>
            <a:ext cx="5306654" cy="2833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by Revenue Loss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IE" b="1" kern="15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46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A64B9C-3A0F-7479-CA4F-FA3E93F41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6ECD-9135-8BAB-6865-DE8A0790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Analytical Narrative (H1-H12)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9E704-3E8F-BEE6-C710-60BFBF7445B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836500"/>
            <a:ext cx="11933382" cy="776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whether missing items are driven by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operations, behavior, or fraud patterns.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DCE12-8D73-EE06-EE82-E4C470148A22}"/>
              </a:ext>
            </a:extLst>
          </p:cNvPr>
          <p:cNvSpPr txBox="1"/>
          <p:nvPr/>
        </p:nvSpPr>
        <p:spPr>
          <a:xfrm>
            <a:off x="1510192" y="1613307"/>
            <a:ext cx="408704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Operations Patterns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clear operational risk pattern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items are not driven by time, seasonality, or region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Morning and early week show slightly higher incidence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Indicates possible operational variability, not structural risk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frequency impact is limited but financial impact </a:t>
            </a:r>
            <a:r>
              <a:rPr lang="en-I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varies significantly</a:t>
            </a:r>
          </a:p>
          <a:p>
            <a:pPr marL="0" indent="0">
              <a:buNone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Orlando shows higher financial impact, but no strong geographic concentration concerning number of items missing</a:t>
            </a:r>
          </a:p>
          <a:p>
            <a:pPr marL="0" indent="0">
              <a:buNone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appear to be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noise rather than systematic risk patterns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83AEA-FBA2-8EEF-3649-1074674A254E}"/>
              </a:ext>
            </a:extLst>
          </p:cNvPr>
          <p:cNvSpPr txBox="1"/>
          <p:nvPr/>
        </p:nvSpPr>
        <p:spPr>
          <a:xfrm>
            <a:off x="6594764" y="1613307"/>
            <a:ext cx="408704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Product-Level Risk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concentrated in high-volume categories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Supermarket products account for 80%+ of incidents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driven by high-value items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Electronics have lower frequency but higher revenue loss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drivers for frequency vs. impact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Low-price items → more frequent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High-price items → higher financial exposure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driven by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volume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financial risk is driven by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value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9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80AE60-59C7-8BA9-C44A-E28FE7F8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BDD2E58-3896-0E20-3E1E-A34BB31BEF8B}"/>
              </a:ext>
            </a:extLst>
          </p:cNvPr>
          <p:cNvSpPr txBox="1"/>
          <p:nvPr/>
        </p:nvSpPr>
        <p:spPr>
          <a:xfrm>
            <a:off x="168445" y="105013"/>
            <a:ext cx="542659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behavior</a:t>
            </a:r>
          </a:p>
          <a:p>
            <a:pPr marL="0" indent="0">
              <a:buNone/>
            </a:pP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strong demographic pattern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 rates are consistent across age groups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financial impact among adults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Likely driven by larger baskets or higher-value purchases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influence on missing item occurrence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Issues affect customers broadly, not specific segments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behavior is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 primary driver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missing item incidents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67BAC0-FFE0-732A-5A73-8FF156133D67}"/>
              </a:ext>
            </a:extLst>
          </p:cNvPr>
          <p:cNvSpPr txBox="1"/>
          <p:nvPr/>
        </p:nvSpPr>
        <p:spPr>
          <a:xfrm>
            <a:off x="5595042" y="105013"/>
            <a:ext cx="64285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 and Operational Execution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risk linked to multi-ID drivers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Associated with higher missing rates and revenue loss (interpret with caution)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variation across driver age groups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Adult and senior drivers show slightly higher incidence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Younger drivers show lower rates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reduces operational risk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High-volume drivers have fewer missing items and lower losses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improves performance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while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multi-ID use signals risk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9119A-B2CA-1E27-94F2-8A7BAAB436F5}"/>
              </a:ext>
            </a:extLst>
          </p:cNvPr>
          <p:cNvSpPr txBox="1"/>
          <p:nvPr/>
        </p:nvSpPr>
        <p:spPr>
          <a:xfrm>
            <a:off x="416459" y="3244334"/>
            <a:ext cx="10741936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5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Interpretation</a:t>
            </a:r>
          </a:p>
          <a:p>
            <a:pPr algn="ctr"/>
            <a:endParaRPr lang="en-IE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are primarily operational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No strong evidence of systematic fraud patterns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Incidents driven by high-volume operations (low-value items)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Concentrated in frequent, routine processes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driven by high-value products</a:t>
            </a: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Low frequency, but high exposure (e.g., electronics)</a:t>
            </a:r>
          </a:p>
          <a:p>
            <a:pPr algn="ctr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reflect a mix of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inefficiencies (volume-driven)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                                                                                                              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exposure (value-driven)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8E2C4A-5ADE-EC2F-AC43-58EE5ADA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A0CA-EAC6-A715-7BDB-3B56D02C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Hypotheses Key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35044-B0FF-499F-C349-83F15CE12AD8}"/>
              </a:ext>
            </a:extLst>
          </p:cNvPr>
          <p:cNvSpPr txBox="1"/>
          <p:nvPr/>
        </p:nvSpPr>
        <p:spPr>
          <a:xfrm>
            <a:off x="258618" y="1136210"/>
            <a:ext cx="408704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Operational Volume Drives Incidents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price supermarket items dominate missing cases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volume → more operational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A7C9F-E3E9-0219-6C54-4C1ECE882689}"/>
              </a:ext>
            </a:extLst>
          </p:cNvPr>
          <p:cNvSpPr txBox="1"/>
          <p:nvPr/>
        </p:nvSpPr>
        <p:spPr>
          <a:xfrm>
            <a:off x="258617" y="3739046"/>
            <a:ext cx="40870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Electronics Drive Financial Risk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incidents, but highest revenue loss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Higher value → higher revenue loss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BB697-C6D7-0367-6BE6-73887A45B291}"/>
              </a:ext>
            </a:extLst>
          </p:cNvPr>
          <p:cNvSpPr txBox="1"/>
          <p:nvPr/>
        </p:nvSpPr>
        <p:spPr>
          <a:xfrm>
            <a:off x="5344104" y="1136210"/>
            <a:ext cx="40870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Outweighs Incident Frequency Across Regions and Customers</a:t>
            </a:r>
            <a:endParaRPr lang="en-IE" sz="2000" b="1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frequency impact is limited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Missing items not concentrated in specific locations or customer segments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impact varies significantly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Orlando (region) and adults (customer) generate higher revenue loss per incident</a:t>
            </a:r>
          </a:p>
        </p:txBody>
      </p:sp>
    </p:spTree>
    <p:extLst>
      <p:ext uri="{BB962C8B-B14F-4D97-AF65-F5344CB8AC3E}">
        <p14:creationId xmlns:p14="http://schemas.microsoft.com/office/powerpoint/2010/main" val="223266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9EBC27-7110-8979-35B5-7A4D90FD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05B5DFB-83BC-D91D-195F-7D9F1ECA788A}"/>
              </a:ext>
            </a:extLst>
          </p:cNvPr>
          <p:cNvSpPr txBox="1"/>
          <p:nvPr/>
        </p:nvSpPr>
        <p:spPr>
          <a:xfrm>
            <a:off x="267671" y="439093"/>
            <a:ext cx="408704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Driver Experience Improve Operational Performance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Drivers with higher trip volume → fewer errors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experience → more delivery accuracy and efficiency → fewer missing items and revenue loss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C1782-7BD3-AD93-40F8-81B0854416A7}"/>
              </a:ext>
            </a:extLst>
          </p:cNvPr>
          <p:cNvSpPr txBox="1"/>
          <p:nvPr/>
        </p:nvSpPr>
        <p:spPr>
          <a:xfrm>
            <a:off x="4052477" y="2941032"/>
            <a:ext cx="408704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Multiple Driver IDs = Risk Signal</a:t>
            </a: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missing rates and revenue loss observed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sample size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although the sample size remains small, the pattern may indicate potential operational irregularities or identity management issues within the driver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0AD07-3AA1-163C-93A0-D574EF8F655D}"/>
              </a:ext>
            </a:extLst>
          </p:cNvPr>
          <p:cNvSpPr txBox="1"/>
          <p:nvPr/>
        </p:nvSpPr>
        <p:spPr>
          <a:xfrm>
            <a:off x="8339106" y="439093"/>
            <a:ext cx="358522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2000" b="1" dirty="0">
                <a:solidFill>
                  <a:srgbClr val="107BC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Operational Time Windows Show Higher Risk Variability</a:t>
            </a:r>
            <a:endParaRPr lang="en-US" sz="2000" dirty="0">
              <a:solidFill>
                <a:srgbClr val="107BC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E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risk in mornings /early week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Possible factors are higher operational workload, shift transitions, or inventory replenishment cycles</a:t>
            </a:r>
          </a:p>
        </p:txBody>
      </p:sp>
    </p:spTree>
    <p:extLst>
      <p:ext uri="{BB962C8B-B14F-4D97-AF65-F5344CB8AC3E}">
        <p14:creationId xmlns:p14="http://schemas.microsoft.com/office/powerpoint/2010/main" val="364082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C58B1F-D7A3-F91A-B29D-4B325E3C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C3C0-D89B-EBA0-3E02-892D187B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2242990"/>
            <a:ext cx="9288489" cy="1186010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4.Fraud Risk Score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5B82D-023B-2F7B-E624-B68856778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929" y="3567072"/>
            <a:ext cx="10477962" cy="32909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framework is divided into three parts.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Framework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Critical Segments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Fraud Risk Score Key Business Findings </a:t>
            </a:r>
            <a:endParaRPr lang="en-US" dirty="0"/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6281E-13E2-0318-9815-28388B9B4E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167612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1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A5BCA6-5B71-8ADE-8A36-D233AAA7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BF1B-D867-F9D9-BCE8-B4D7FE99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Framework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FBA3-1585-28D3-9AFB-CF08A13F0D0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8618" y="990407"/>
            <a:ext cx="11257390" cy="856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Fraud Risk Score will combine key risk indicators to assess order risk, enabling proactive monitoring and investigation prioritization.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7DB73-BCDA-4A0F-7343-33E0510B92FF}"/>
              </a:ext>
            </a:extLst>
          </p:cNvPr>
          <p:cNvSpPr txBox="1"/>
          <p:nvPr/>
        </p:nvSpPr>
        <p:spPr>
          <a:xfrm>
            <a:off x="258618" y="1846907"/>
            <a:ext cx="48656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IE" b="1" kern="1500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</a:p>
          <a:p>
            <a:pPr marL="0" lvl="0" indent="0">
              <a:buNone/>
            </a:pPr>
            <a:endParaRPr lang="en-IE" b="1" kern="15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key risk variables derived from the EDA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 and standardize relevant metrics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weighted indicators into a composite risk score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relative risk levels to delivery orders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score will not represent confirmed fraud probability, but rather a relative risk assessment tool to support preventive decision-making.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061082-11B0-4F84-D5A2-8B632F52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733041"/>
              </p:ext>
            </p:extLst>
          </p:nvPr>
        </p:nvGraphicFramePr>
        <p:xfrm>
          <a:off x="5124261" y="1846907"/>
          <a:ext cx="5998425" cy="2105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475">
                  <a:extLst>
                    <a:ext uri="{9D8B030D-6E8A-4147-A177-3AD203B41FA5}">
                      <a16:colId xmlns:a16="http://schemas.microsoft.com/office/drawing/2014/main" val="2804027855"/>
                    </a:ext>
                  </a:extLst>
                </a:gridCol>
                <a:gridCol w="1999475">
                  <a:extLst>
                    <a:ext uri="{9D8B030D-6E8A-4147-A177-3AD203B41FA5}">
                      <a16:colId xmlns:a16="http://schemas.microsoft.com/office/drawing/2014/main" val="1217689272"/>
                    </a:ext>
                  </a:extLst>
                </a:gridCol>
                <a:gridCol w="1999475">
                  <a:extLst>
                    <a:ext uri="{9D8B030D-6E8A-4147-A177-3AD203B41FA5}">
                      <a16:colId xmlns:a16="http://schemas.microsoft.com/office/drawing/2014/main" val="2880210754"/>
                    </a:ext>
                  </a:extLst>
                </a:gridCol>
              </a:tblGrid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05422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Incidence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Frequency of 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027530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Operational 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59568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revenue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intensity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112984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Weighted revenue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efficiency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999851"/>
                  </a:ext>
                </a:extLst>
              </a:tr>
              <a:tr h="350932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Reliability od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4005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DE85E1-9FF3-604D-850E-8E76A8503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398875"/>
              </p:ext>
            </p:extLst>
          </p:nvPr>
        </p:nvGraphicFramePr>
        <p:xfrm>
          <a:off x="5124261" y="4100465"/>
          <a:ext cx="4332586" cy="152485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6293">
                  <a:extLst>
                    <a:ext uri="{9D8B030D-6E8A-4147-A177-3AD203B41FA5}">
                      <a16:colId xmlns:a16="http://schemas.microsoft.com/office/drawing/2014/main" val="1517584828"/>
                    </a:ext>
                  </a:extLst>
                </a:gridCol>
                <a:gridCol w="2166293">
                  <a:extLst>
                    <a:ext uri="{9D8B030D-6E8A-4147-A177-3AD203B41FA5}">
                      <a16:colId xmlns:a16="http://schemas.microsoft.com/office/drawing/2014/main" val="1031264493"/>
                    </a:ext>
                  </a:extLst>
                </a:gridCol>
              </a:tblGrid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Score 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40315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689066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Moderate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243155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39363"/>
                  </a:ext>
                </a:extLst>
              </a:tr>
              <a:tr h="304970"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Critical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440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87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87C27B-49E2-70B7-834E-189C3F6F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5CE1-4C52-184C-DB7C-4231401D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1492780" cy="1325563"/>
          </a:xfrm>
        </p:spPr>
        <p:txBody>
          <a:bodyPr/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Critical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B1BD-BE53-5FBA-E2CE-FE9C3D78389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532068"/>
            <a:ext cx="11371152" cy="1691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Fraud Risk Segments: </a:t>
            </a:r>
            <a:r>
              <a:rPr lang="en-US" sz="2000" dirty="0"/>
              <a:t>Fraud risk is concentrated in specific operational periods, driver profiles, and high-value products.</a:t>
            </a:r>
          </a:p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Matrix: </a:t>
            </a:r>
            <a:r>
              <a:rPr lang="en-US" sz="2000" dirty="0"/>
              <a:t>High-risk segments cluster in the top-right quadrant, combining high        frequency and high financial impact.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4E2CB-16B0-68FC-948F-F380DB5B1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9" y="833437"/>
            <a:ext cx="5892869" cy="3595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34B61F-3BB7-14DC-6C91-429CB307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33437"/>
            <a:ext cx="5892869" cy="35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7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ACA6F7-5C2B-D263-B00B-E21C8578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76F2D-3DEF-7AC6-BA64-C5723001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Key Business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9657E-00DC-0CEC-F0C0-2DB0F455722C}"/>
              </a:ext>
            </a:extLst>
          </p:cNvPr>
          <p:cNvSpPr txBox="1"/>
          <p:nvPr/>
        </p:nvSpPr>
        <p:spPr>
          <a:xfrm>
            <a:off x="696303" y="1136210"/>
            <a:ext cx="5224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High-Value Products Drive Risk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Electronics &amp; Premium ($300+) → Critical Risk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High financial exposure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A478B-FEA8-55D9-3EB7-2ACE6420E5F2}"/>
              </a:ext>
            </a:extLst>
          </p:cNvPr>
          <p:cNvSpPr txBox="1"/>
          <p:nvPr/>
        </p:nvSpPr>
        <p:spPr>
          <a:xfrm>
            <a:off x="7408651" y="1136210"/>
            <a:ext cx="40870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Operational Timing Matters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Morning, specific months, and weekdays show higher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463BB-4B7F-DEE6-73D8-61187D618CE0}"/>
              </a:ext>
            </a:extLst>
          </p:cNvPr>
          <p:cNvSpPr txBox="1"/>
          <p:nvPr/>
        </p:nvSpPr>
        <p:spPr>
          <a:xfrm>
            <a:off x="7408652" y="2711605"/>
            <a:ext cx="45684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Volume ≠ Financial Risk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volume + high value → highest 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41991-6170-82BE-1CB1-7A17919E388D}"/>
              </a:ext>
            </a:extLst>
          </p:cNvPr>
          <p:cNvSpPr txBox="1"/>
          <p:nvPr/>
        </p:nvSpPr>
        <p:spPr>
          <a:xfrm>
            <a:off x="696303" y="2709990"/>
            <a:ext cx="40870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Driver &amp; Customer Segments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Medium trip drivers → higher risk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Adult/Senior groups → elevated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695B1-4DBB-78BB-6DCE-68BE5A6F48C3}"/>
              </a:ext>
            </a:extLst>
          </p:cNvPr>
          <p:cNvSpPr txBox="1"/>
          <p:nvPr/>
        </p:nvSpPr>
        <p:spPr>
          <a:xfrm>
            <a:off x="4052477" y="4010001"/>
            <a:ext cx="40870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Insight</a:t>
            </a:r>
          </a:p>
          <a:p>
            <a:pPr algn="ctr"/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is driven by 3 factors: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products (financial)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timing (process)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 (execution)</a:t>
            </a:r>
          </a:p>
        </p:txBody>
      </p:sp>
    </p:spTree>
    <p:extLst>
      <p:ext uri="{BB962C8B-B14F-4D97-AF65-F5344CB8AC3E}">
        <p14:creationId xmlns:p14="http://schemas.microsoft.com/office/powerpoint/2010/main" val="37591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912ABD-828E-8C87-F2DC-99C8D5E11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3A80-96C1-F359-FF4D-8765D1F7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3890720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5.Final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9EC0-5CFD-881D-34C0-B37152FF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69" y="5388055"/>
            <a:ext cx="10477962" cy="146994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exploratory data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  <a:endParaRPr lang="en-US" dirty="0"/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1F3B6-F4BE-8DF3-96AA-69AC1BC77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3429000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4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ABD0B2-FB5B-FFA8-2308-801FAD63D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A885-4185-90EF-ED5E-F76FE3CB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8E4721-7E65-A957-6624-F45F81520A1A}"/>
              </a:ext>
            </a:extLst>
          </p:cNvPr>
          <p:cNvSpPr txBox="1"/>
          <p:nvPr/>
        </p:nvSpPr>
        <p:spPr>
          <a:xfrm>
            <a:off x="258619" y="1136209"/>
            <a:ext cx="58373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High-Value Orders</a:t>
            </a:r>
          </a:p>
          <a:p>
            <a:pPr marL="457200" indent="-457200">
              <a:buAutoNum type="arabicPeriod"/>
            </a:pPr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Enforce delivery confirmation (photo + verification)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 recipient holding the package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sent via SMS to the buyer 30 minutes before arrival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Recipient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check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tamper-proof packaging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applied across the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C084-0349-AA1D-AEEC-0FC29BEF9023}"/>
              </a:ext>
            </a:extLst>
          </p:cNvPr>
          <p:cNvSpPr txBox="1"/>
          <p:nvPr/>
        </p:nvSpPr>
        <p:spPr>
          <a:xfrm>
            <a:off x="3939174" y="3429000"/>
            <a:ext cx="4087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Strengthen Driver Identity Control</a:t>
            </a:r>
          </a:p>
          <a:p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ID accounts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Automatic flagging and manual audit if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2+ driver 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share the same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 ID (IMEI)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or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 Account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Implement identity verification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Random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Selfies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 prevent account sharing and "Ghost Drivers.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AE16A-FEE2-BE90-B70C-A168578FC6E1}"/>
              </a:ext>
            </a:extLst>
          </p:cNvPr>
          <p:cNvSpPr txBox="1"/>
          <p:nvPr/>
        </p:nvSpPr>
        <p:spPr>
          <a:xfrm>
            <a:off x="7846337" y="1136210"/>
            <a:ext cx="4087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Improve High-Volume Operations</a:t>
            </a:r>
          </a:p>
          <a:p>
            <a:endParaRPr lang="en-US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Mandatory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barcode validation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every picking stage to eliminate item errors.</a:t>
            </a:r>
          </a:p>
          <a:p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Automated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to cross-verify order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contents against shipping manifests.</a:t>
            </a:r>
          </a:p>
        </p:txBody>
      </p:sp>
    </p:spTree>
    <p:extLst>
      <p:ext uri="{BB962C8B-B14F-4D97-AF65-F5344CB8AC3E}">
        <p14:creationId xmlns:p14="http://schemas.microsoft.com/office/powerpoint/2010/main" val="250439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80AB14-6547-29AA-F66D-22503638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7B75-CC04-EB66-E026-54D6509F7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EDA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FF9B2-5A51-EBAA-951A-C9CA649404E7}"/>
              </a:ext>
            </a:extLst>
          </p:cNvPr>
          <p:cNvSpPr txBox="1"/>
          <p:nvPr/>
        </p:nvSpPr>
        <p:spPr>
          <a:xfrm>
            <a:off x="780771" y="1856622"/>
            <a:ext cx="4568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Develop Driver Performance Strategy</a:t>
            </a:r>
          </a:p>
          <a:p>
            <a:endParaRPr lang="en-US" sz="2000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Train mid-experience drivers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Focused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coaching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established drivers to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delivery errors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Incentivize delivery accuracy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 Tiered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bonuses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high verification compliance and positive customer ratings.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12A74-0CCD-AA89-C7EE-7E27A93859B0}"/>
              </a:ext>
            </a:extLst>
          </p:cNvPr>
          <p:cNvSpPr txBox="1"/>
          <p:nvPr/>
        </p:nvSpPr>
        <p:spPr>
          <a:xfrm>
            <a:off x="6669340" y="1856622"/>
            <a:ext cx="4741889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Implement Risk Monitoring System</a:t>
            </a:r>
          </a:p>
          <a:p>
            <a:endParaRPr lang="en-US" sz="2000" b="1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/>
              <a:t>Instant notifications </a:t>
            </a:r>
            <a:r>
              <a:rPr lang="en-US" dirty="0"/>
              <a:t>when orders enter designated </a:t>
            </a:r>
            <a:r>
              <a:rPr lang="en-US" b="1" dirty="0"/>
              <a:t>"Red Flag" sectors</a:t>
            </a:r>
            <a:r>
              <a:rPr lang="en-US" dirty="0"/>
              <a:t>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products, drivers, and time windows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b="1" dirty="0"/>
              <a:t>Auditing</a:t>
            </a:r>
            <a:r>
              <a:rPr lang="en-US" dirty="0"/>
              <a:t> the overlap of high-value goods, new drivers, and morning/early week shift windows.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6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72E0E5-F963-6E11-260A-68AFAB7EF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C233-ACBD-EEBB-1452-E23EB7D3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3E65-FDB7-5B00-43B0-86A2D196D210}"/>
              </a:ext>
            </a:extLst>
          </p:cNvPr>
          <p:cNvSpPr txBox="1"/>
          <p:nvPr/>
        </p:nvSpPr>
        <p:spPr>
          <a:xfrm>
            <a:off x="3272878" y="1074509"/>
            <a:ext cx="6275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Enforce delivery confirmation (photo + PIN +Verification)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tamper-proof packaging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high-value items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drivers ID accounts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 monitoring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for pattern escalation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immediate action required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1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757A93-1EA7-646C-4D8E-699F6AD3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DC43-5F77-17A2-9F64-A9BBF7B9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6.Project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0A5B1-4C04-391A-582E-D9913923B4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5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08B0ED-64C4-796C-9A07-36D7D4C9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ECE7E95-B5A2-73A1-45B4-FED869565043}"/>
              </a:ext>
            </a:extLst>
          </p:cNvPr>
          <p:cNvSpPr txBox="1"/>
          <p:nvPr/>
        </p:nvSpPr>
        <p:spPr>
          <a:xfrm>
            <a:off x="2958072" y="458956"/>
            <a:ext cx="62758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items → financial loss &amp; customer dissatisfaction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Issue is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operational, not fraud-driven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Drivers: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High-value products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timing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behavior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Volume drives errors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 drives losses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Actions:</a:t>
            </a:r>
            <a:endParaRPr lang="en-US" sz="2000" dirty="0">
              <a:solidFill>
                <a:srgbClr val="0070B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 high-value orders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operations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drivers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risk framework</a:t>
            </a:r>
          </a:p>
        </p:txBody>
      </p:sp>
    </p:spTree>
    <p:extLst>
      <p:ext uri="{BB962C8B-B14F-4D97-AF65-F5344CB8AC3E}">
        <p14:creationId xmlns:p14="http://schemas.microsoft.com/office/powerpoint/2010/main" val="82145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A34314-CB74-66F1-C95B-2381498E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46D4-5C4C-7C9F-23DA-4D6E6006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093" y="2242990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7.Fraud Risk Score Simulator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4DBC9-BF37-49C1-4B0F-56044788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69" y="3569747"/>
            <a:ext cx="10477962" cy="3288254"/>
          </a:xfrm>
        </p:spPr>
        <p:txBody>
          <a:bodyPr>
            <a:normAutofit fontScale="70000" lnSpcReduction="20000"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fraud risk simulator was developed using the Fraud Risk Framework scores.</a:t>
            </a:r>
          </a:p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tool estimates the risk level of a delivery based on operational, driver, customer, and product characteristics by aggregating segment-level risk scores.</a:t>
            </a:r>
          </a:p>
          <a:p>
            <a:b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Link: https://delivery-fraud-risk-score-simulator-walmart.streamlit.app/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E9F7D-4972-5710-18CF-4EEB9656F8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62093" y="1673453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9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94EDE0-C75C-8814-EF50-383362E26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55E0-9277-9D6D-3990-312A45E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699192" cy="1325563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Fraud Risk Score Simulator – How to operate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Delivery Fraud Risk Simulator">
            <a:hlinkClick r:id="" action="ppaction://media"/>
            <a:extLst>
              <a:ext uri="{FF2B5EF4-FFF2-40B4-BE49-F238E27FC236}">
                <a16:creationId xmlns:a16="http://schemas.microsoft.com/office/drawing/2014/main" id="{1AB18D57-B2E5-42E5-4D13-F0FC2ACA02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1149" y="1136209"/>
            <a:ext cx="9216427" cy="434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4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586683-F5D5-69CF-9BED-3F8B20CA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93A4-783C-2D79-E038-E8F75B75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8.Interactive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ED09D-BDAA-0E2A-EB06-352B2ED7C1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5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9F9CFF-E66F-CAB1-D315-FD78625C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8A2F-6055-7FA0-CAEF-847CECF66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8" y="-189353"/>
            <a:ext cx="10170974" cy="1325563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based on Risk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35E1A-BFE4-D049-B4FF-48BC6CDD972C}"/>
              </a:ext>
            </a:extLst>
          </p:cNvPr>
          <p:cNvSpPr txBox="1"/>
          <p:nvPr/>
        </p:nvSpPr>
        <p:spPr>
          <a:xfrm>
            <a:off x="3272878" y="1074509"/>
            <a:ext cx="6275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Critical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Enforce delivery confirmation (photo + PIN +Verification)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 tamper-proof packaging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high-value items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Flag multiple drivers ID accounts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high-risk segments in real time</a:t>
            </a:r>
          </a:p>
          <a:p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 picking validation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 automated order checks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Standard monitoring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for pattern escalation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E" sz="2000" b="1" dirty="0">
                <a:solidFill>
                  <a:srgbClr val="0070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Risk Actions:</a:t>
            </a:r>
            <a:b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immediate action required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84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8B152-DF26-E210-A5E2-23EF9BD3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30E3-FB47-0259-3C94-832BC0B28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6" y="3998537"/>
            <a:ext cx="9288489" cy="1186010"/>
          </a:xfrm>
        </p:spPr>
        <p:txBody>
          <a:bodyPr>
            <a:normAutofit/>
          </a:bodyPr>
          <a:lstStyle/>
          <a:p>
            <a:r>
              <a:rPr lang="en-GB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9DDF42-D5BE-012B-8E08-71E3D8B927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5" t="29129" r="22807" b="40923"/>
          <a:stretch/>
        </p:blipFill>
        <p:spPr>
          <a:xfrm>
            <a:off x="457096" y="3140958"/>
            <a:ext cx="2801816" cy="85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9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28664-FF51-EBD0-2134-BFCF6415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09" y="649406"/>
            <a:ext cx="1364776" cy="13647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B7FA14-218A-D00E-7626-F975C80A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990600"/>
            <a:ext cx="2115403" cy="2115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0A5895-21A2-57DD-3CAB-A385FE103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051" y="829101"/>
            <a:ext cx="2438400" cy="2438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4B2B9A-99C7-A302-ED0E-162336C4E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883" y="3106003"/>
            <a:ext cx="2115403" cy="21154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DB063A-8562-5947-5475-B87F14811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427" y="3624618"/>
            <a:ext cx="1992573" cy="19925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0E7D73-9AB9-6253-C5A4-3955FD62E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41" y="3106003"/>
            <a:ext cx="2243123" cy="2243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5432D-9130-97AC-35D0-BB1C692BF4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116" y="1480606"/>
            <a:ext cx="3250794" cy="32507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4F3787-30E4-6DE2-0AD1-ACF2316796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59" y="990259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nrio-PowerPoint-Template" id="{05B682D2-4063-504B-972A-2EFD4504373A}" vid="{92F9DAE4-59F8-F046-A190-212E94FEC9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Walmart-PowerPoint-Template</Template>
  <TotalTime>2422</TotalTime>
  <Words>4089</Words>
  <Application>Microsoft Office PowerPoint</Application>
  <PresentationFormat>Widescreen</PresentationFormat>
  <Paragraphs>897</Paragraphs>
  <Slides>47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Roboto</vt:lpstr>
      <vt:lpstr>Office Theme</vt:lpstr>
      <vt:lpstr>Fraud Risk Analysis in Delivery Operations</vt:lpstr>
      <vt:lpstr>1.Business Understanding</vt:lpstr>
      <vt:lpstr>PowerPoint Presentation</vt:lpstr>
      <vt:lpstr>2.Data Understanding</vt:lpstr>
      <vt:lpstr>PowerPoint Presentation</vt:lpstr>
      <vt:lpstr>3.Exploratory Data Analysis</vt:lpstr>
      <vt:lpstr>Exploratory Data Analysis Methodology</vt:lpstr>
      <vt:lpstr>PowerPoint Presentation</vt:lpstr>
      <vt:lpstr>Key Metrics &amp; Dimensions Definition</vt:lpstr>
      <vt:lpstr>PowerPoint Presentation</vt:lpstr>
      <vt:lpstr>Hypotheses</vt:lpstr>
      <vt:lpstr>Overview (Supporting Metrics)</vt:lpstr>
      <vt:lpstr>Hypotheses Validation - Seasonality</vt:lpstr>
      <vt:lpstr>PowerPoint Presentation</vt:lpstr>
      <vt:lpstr>PowerPoint Presentation</vt:lpstr>
      <vt:lpstr>Hypotheses Validation - Location</vt:lpstr>
      <vt:lpstr>PowerPoint Presentation</vt:lpstr>
      <vt:lpstr>Hypotheses Validation - Products</vt:lpstr>
      <vt:lpstr>PowerPoint Presentation</vt:lpstr>
      <vt:lpstr>PowerPoint Presentation</vt:lpstr>
      <vt:lpstr>Hypotheses Validation - Customers</vt:lpstr>
      <vt:lpstr>Hypotheses Validation - Drivers</vt:lpstr>
      <vt:lpstr>PowerPoint Presentation</vt:lpstr>
      <vt:lpstr>PowerPoint Presentation</vt:lpstr>
      <vt:lpstr>Additional Analysis (Operational Monitoring)</vt:lpstr>
      <vt:lpstr>PowerPoint Presentation</vt:lpstr>
      <vt:lpstr>PowerPoint Presentation</vt:lpstr>
      <vt:lpstr>Integrated Analytical Narrative (H1-H12)</vt:lpstr>
      <vt:lpstr>PowerPoint Presentation</vt:lpstr>
      <vt:lpstr>Hypotheses Key Findings</vt:lpstr>
      <vt:lpstr>PowerPoint Presentation</vt:lpstr>
      <vt:lpstr>4.Fraud Risk Score Framework</vt:lpstr>
      <vt:lpstr>Fraud Risk Score Framework Methodology</vt:lpstr>
      <vt:lpstr>Most Critical Segments</vt:lpstr>
      <vt:lpstr>Fraud Risk Score Key Business Findings</vt:lpstr>
      <vt:lpstr>5.Final Recommendations</vt:lpstr>
      <vt:lpstr>Recommendations based on EDA</vt:lpstr>
      <vt:lpstr>Recommendations based on EDA</vt:lpstr>
      <vt:lpstr>Recommendations based on Risk Level</vt:lpstr>
      <vt:lpstr>6.Project Summary</vt:lpstr>
      <vt:lpstr>PowerPoint Presentation</vt:lpstr>
      <vt:lpstr>7.Fraud Risk Score Simulator</vt:lpstr>
      <vt:lpstr>Fraud Risk Score Simulator – How to operate</vt:lpstr>
      <vt:lpstr>8.Interactive Dashboard</vt:lpstr>
      <vt:lpstr>Recommendations based on Risk Level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128</cp:revision>
  <dcterms:created xsi:type="dcterms:W3CDTF">2026-03-14T16:59:09Z</dcterms:created>
  <dcterms:modified xsi:type="dcterms:W3CDTF">2026-03-21T14:51:10Z</dcterms:modified>
</cp:coreProperties>
</file>