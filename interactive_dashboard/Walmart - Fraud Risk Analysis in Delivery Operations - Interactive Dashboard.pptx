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309" r:id="rId3"/>
    <p:sldId id="310" r:id="rId4"/>
    <p:sldId id="311" r:id="rId5"/>
    <p:sldId id="312" r:id="rId6"/>
    <p:sldId id="313" r:id="rId7"/>
    <p:sldId id="314" r:id="rId8"/>
    <p:sldId id="262" r:id="rId9"/>
    <p:sldId id="271" r:id="rId10"/>
    <p:sldId id="272" r:id="rId11"/>
    <p:sldId id="274" r:id="rId12"/>
    <p:sldId id="273" r:id="rId13"/>
    <p:sldId id="275" r:id="rId14"/>
    <p:sldId id="276" r:id="rId15"/>
    <p:sldId id="277" r:id="rId16"/>
    <p:sldId id="279" r:id="rId17"/>
    <p:sldId id="280" r:id="rId18"/>
    <p:sldId id="278" r:id="rId19"/>
    <p:sldId id="281" r:id="rId20"/>
    <p:sldId id="283" r:id="rId21"/>
    <p:sldId id="284" r:id="rId22"/>
    <p:sldId id="286" r:id="rId23"/>
    <p:sldId id="282" r:id="rId24"/>
    <p:sldId id="285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8" r:id="rId36"/>
    <p:sldId id="297" r:id="rId37"/>
    <p:sldId id="299" r:id="rId38"/>
    <p:sldId id="303" r:id="rId39"/>
    <p:sldId id="302" r:id="rId40"/>
    <p:sldId id="300" r:id="rId41"/>
    <p:sldId id="304" r:id="rId42"/>
    <p:sldId id="306" r:id="rId43"/>
    <p:sldId id="307" r:id="rId44"/>
    <p:sldId id="25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BA"/>
    <a:srgbClr val="001643"/>
    <a:srgbClr val="FDBB30"/>
    <a:srgbClr val="FFFFFF"/>
    <a:srgbClr val="FDBC30"/>
    <a:srgbClr val="107BCA"/>
    <a:srgbClr val="F20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0" autoAdjust="0"/>
    <p:restoredTop sz="96005" autoAdjust="0"/>
  </p:normalViewPr>
  <p:slideViewPr>
    <p:cSldViewPr snapToGrid="0">
      <p:cViewPr>
        <p:scale>
          <a:sx n="100" d="100"/>
          <a:sy n="100" d="100"/>
        </p:scale>
        <p:origin x="66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2F8F4-3A56-45F7-A40D-BD33D53E9BFB}" type="datetimeFigureOut">
              <a:rPr lang="en-IE" smtClean="0"/>
              <a:t>23/03/2026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12A50-B8D0-42E8-957C-366161382CB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02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0475" y="2866291"/>
            <a:ext cx="8023861" cy="1717983"/>
          </a:xfrm>
        </p:spPr>
        <p:txBody>
          <a:bodyPr anchor="b">
            <a:normAutofit/>
          </a:bodyPr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0476" y="4692112"/>
            <a:ext cx="8023861" cy="648380"/>
          </a:xfrm>
        </p:spPr>
        <p:txBody>
          <a:bodyPr>
            <a:norm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50475" y="6291035"/>
            <a:ext cx="1971397" cy="365125"/>
          </a:xfrm>
        </p:spPr>
        <p:txBody>
          <a:bodyPr/>
          <a:lstStyle/>
          <a:p>
            <a:fld id="{276D79ED-3FA7-4EF8-964B-EB8BCFAB02F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52155" y="6291035"/>
            <a:ext cx="32755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7949" y="6291036"/>
            <a:ext cx="1516387" cy="365125"/>
          </a:xfrm>
        </p:spPr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E35D34-AFF6-FD67-69F4-07CA10FF0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93" y="1841862"/>
            <a:ext cx="11261821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EFFF79B-CB1A-2DB9-D1D3-2B5716D64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4369" y="6356349"/>
            <a:ext cx="1971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276D79ED-3FA7-4EF8-964B-EB8BCFAB02F8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5618634-64F8-E86E-D531-28BAC3177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6049" y="6356349"/>
            <a:ext cx="6531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2E703D6-3CE9-255E-BAAA-446DB0D0A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61171" y="6356350"/>
            <a:ext cx="1262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909A6-1A45-C218-504B-235FA16D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525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93" y="1683613"/>
            <a:ext cx="8251553" cy="2852737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93" y="4563338"/>
            <a:ext cx="825155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243" y="6356349"/>
            <a:ext cx="2183674" cy="365125"/>
          </a:xfrm>
        </p:spPr>
        <p:txBody>
          <a:bodyPr/>
          <a:lstStyle/>
          <a:p>
            <a:fld id="{276D79ED-3FA7-4EF8-964B-EB8BCFAB02F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3199" y="6356349"/>
            <a:ext cx="32755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8993" y="6356350"/>
            <a:ext cx="1474653" cy="365125"/>
          </a:xfrm>
        </p:spPr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942" y="1873975"/>
            <a:ext cx="56279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9146" y="1873975"/>
            <a:ext cx="556476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299811"/>
            <a:ext cx="1131897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0" y="1615849"/>
            <a:ext cx="56279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941" y="2439761"/>
            <a:ext cx="56279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0" y="1615849"/>
            <a:ext cx="56279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439761"/>
            <a:ext cx="56279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://www.prezentr.com/?utm_source=templates&amp;utm_medium=presentation&amp;utm_campaign=free_downloads_2020" TargetMode="Externa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2093" y="417376"/>
            <a:ext cx="112618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93" y="1841862"/>
            <a:ext cx="11261821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4369" y="6482961"/>
            <a:ext cx="1971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276D79ED-3FA7-4EF8-964B-EB8BCFAB02F8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6049" y="6482961"/>
            <a:ext cx="6531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1171" y="6482962"/>
            <a:ext cx="1262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  <a:hlinkClick r:id="rId11"/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BA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prezentr.com/?utm_source=templates&amp;utm_medium=presentation&amp;utm_campaign=free_downloads_202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  <a:extLst>
              <a:ext uri="{FF2B5EF4-FFF2-40B4-BE49-F238E27FC236}">
                <a16:creationId xmlns:a16="http://schemas.microsoft.com/office/drawing/2014/main" id="{690A4DCE-900A-874A-B628-D52BB5C182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Analysis in Delivery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0474" y="4864209"/>
            <a:ext cx="8023861" cy="648380"/>
          </a:xfrm>
        </p:spPr>
        <p:txBody>
          <a:bodyPr/>
          <a:lstStyle/>
          <a:p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&amp; Revenue Loss Investigation</a:t>
            </a:r>
            <a:endParaRPr lang="en-US" b="1" dirty="0">
              <a:solidFill>
                <a:srgbClr val="FDBC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DDB8B-469D-9A29-1440-52FF10F756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740855" y="911094"/>
            <a:ext cx="6710290" cy="2053883"/>
          </a:xfrm>
          <a:prstGeom prst="rect">
            <a:avLst/>
          </a:prstGeom>
          <a:ln>
            <a:solidFill>
              <a:srgbClr val="FDBB30"/>
            </a:solidFill>
          </a:ln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C736B87-1A5B-3E6B-0741-F1D35F829547}"/>
              </a:ext>
            </a:extLst>
          </p:cNvPr>
          <p:cNvSpPr txBox="1">
            <a:spLocks/>
          </p:cNvSpPr>
          <p:nvPr/>
        </p:nvSpPr>
        <p:spPr>
          <a:xfrm>
            <a:off x="2084069" y="5831268"/>
            <a:ext cx="8023861" cy="648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Analyst: Igor Azevedo de Queiroz</a:t>
            </a:r>
            <a:endParaRPr lang="en-US" b="1" dirty="0">
              <a:solidFill>
                <a:srgbClr val="FDBC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92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86F7-7B35-9356-9884-65F1A432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tângulo: Cantos Arredondados 2">
            <a:extLst>
              <a:ext uri="{FF2B5EF4-FFF2-40B4-BE49-F238E27FC236}">
                <a16:creationId xmlns:a16="http://schemas.microsoft.com/office/drawing/2014/main" id="{8A837FE2-627B-A3A7-3F27-B1B66D5414A0}"/>
              </a:ext>
            </a:extLst>
          </p:cNvPr>
          <p:cNvSpPr/>
          <p:nvPr/>
        </p:nvSpPr>
        <p:spPr>
          <a:xfrm>
            <a:off x="760983" y="2814663"/>
            <a:ext cx="1603523" cy="1559350"/>
          </a:xfrm>
          <a:prstGeom prst="roundRect">
            <a:avLst>
              <a:gd name="adj" fmla="val 6689"/>
            </a:avLst>
          </a:prstGeom>
          <a:solidFill>
            <a:srgbClr val="001643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Retângulo: Cantos Arredondados 15">
            <a:extLst>
              <a:ext uri="{FF2B5EF4-FFF2-40B4-BE49-F238E27FC236}">
                <a16:creationId xmlns:a16="http://schemas.microsoft.com/office/drawing/2014/main" id="{0CC308FE-9F39-E262-4FF6-7FA0A2CBE1BA}"/>
              </a:ext>
            </a:extLst>
          </p:cNvPr>
          <p:cNvSpPr/>
          <p:nvPr/>
        </p:nvSpPr>
        <p:spPr>
          <a:xfrm>
            <a:off x="6349012" y="4786461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Retângulo: Cantos Arredondados 19">
            <a:extLst>
              <a:ext uri="{FF2B5EF4-FFF2-40B4-BE49-F238E27FC236}">
                <a16:creationId xmlns:a16="http://schemas.microsoft.com/office/drawing/2014/main" id="{D71BF39E-737E-5A71-233C-99AEC3AA43E6}"/>
              </a:ext>
            </a:extLst>
          </p:cNvPr>
          <p:cNvSpPr/>
          <p:nvPr/>
        </p:nvSpPr>
        <p:spPr>
          <a:xfrm>
            <a:off x="7489259" y="3778287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Retângulo: Cantos Arredondados 20">
            <a:extLst>
              <a:ext uri="{FF2B5EF4-FFF2-40B4-BE49-F238E27FC236}">
                <a16:creationId xmlns:a16="http://schemas.microsoft.com/office/drawing/2014/main" id="{447B39CA-CCCB-5726-1C80-B56F27A896A2}"/>
              </a:ext>
            </a:extLst>
          </p:cNvPr>
          <p:cNvSpPr/>
          <p:nvPr/>
        </p:nvSpPr>
        <p:spPr>
          <a:xfrm>
            <a:off x="8844196" y="0"/>
            <a:ext cx="3261565" cy="2535124"/>
          </a:xfrm>
          <a:prstGeom prst="roundRect">
            <a:avLst>
              <a:gd name="adj" fmla="val 17481"/>
            </a:avLst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tângulo: Cantos Arredondados 21">
            <a:extLst>
              <a:ext uri="{FF2B5EF4-FFF2-40B4-BE49-F238E27FC236}">
                <a16:creationId xmlns:a16="http://schemas.microsoft.com/office/drawing/2014/main" id="{018AA5F6-143D-D802-593A-79F0528166A8}"/>
              </a:ext>
            </a:extLst>
          </p:cNvPr>
          <p:cNvSpPr/>
          <p:nvPr/>
        </p:nvSpPr>
        <p:spPr>
          <a:xfrm>
            <a:off x="9133627" y="68602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2" name="Retângulo: Cantos Arredondados 6">
            <a:extLst>
              <a:ext uri="{FF2B5EF4-FFF2-40B4-BE49-F238E27FC236}">
                <a16:creationId xmlns:a16="http://schemas.microsoft.com/office/drawing/2014/main" id="{B82A0B86-86E3-2035-1435-FA68EDD7C278}"/>
              </a:ext>
            </a:extLst>
          </p:cNvPr>
          <p:cNvSpPr/>
          <p:nvPr/>
        </p:nvSpPr>
        <p:spPr>
          <a:xfrm>
            <a:off x="135826" y="1480941"/>
            <a:ext cx="1360137" cy="770413"/>
          </a:xfrm>
          <a:prstGeom prst="roundRect">
            <a:avLst>
              <a:gd name="adj" fmla="val 6689"/>
            </a:avLst>
          </a:prstGeom>
          <a:solidFill>
            <a:srgbClr val="001643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000E1E9-D9D3-E5DD-B680-4B134E12AE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098" y="3304424"/>
            <a:ext cx="579828" cy="579828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9EB1F0EC-2C49-CB0C-922B-12C726B48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106" y="4372204"/>
            <a:ext cx="615708" cy="636523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AE5C9ACC-9C7E-0620-6F8A-A60912D14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388" y="142536"/>
            <a:ext cx="599399" cy="599399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2AEE1053-9877-9A29-9176-43BFB2BE6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627" y="958727"/>
            <a:ext cx="2705478" cy="1371791"/>
          </a:xfrm>
          <a:prstGeom prst="rect">
            <a:avLst/>
          </a:prstGeom>
        </p:spPr>
      </p:pic>
      <p:sp>
        <p:nvSpPr>
          <p:cNvPr id="123" name="Retângulo: Cantos Arredondados 20">
            <a:extLst>
              <a:ext uri="{FF2B5EF4-FFF2-40B4-BE49-F238E27FC236}">
                <a16:creationId xmlns:a16="http://schemas.microsoft.com/office/drawing/2014/main" id="{ACD9F2F2-6019-6BF1-3A7E-0D39F606F954}"/>
              </a:ext>
            </a:extLst>
          </p:cNvPr>
          <p:cNvSpPr/>
          <p:nvPr/>
        </p:nvSpPr>
        <p:spPr>
          <a:xfrm>
            <a:off x="4101551" y="786144"/>
            <a:ext cx="3922908" cy="1831484"/>
          </a:xfrm>
          <a:prstGeom prst="roundRect">
            <a:avLst>
              <a:gd name="adj" fmla="val 17481"/>
            </a:avLst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Retângulo: Cantos Arredondados 20">
            <a:extLst>
              <a:ext uri="{FF2B5EF4-FFF2-40B4-BE49-F238E27FC236}">
                <a16:creationId xmlns:a16="http://schemas.microsoft.com/office/drawing/2014/main" id="{28C48EF0-E6A9-4406-3E8A-6693992986FF}"/>
              </a:ext>
            </a:extLst>
          </p:cNvPr>
          <p:cNvSpPr/>
          <p:nvPr/>
        </p:nvSpPr>
        <p:spPr>
          <a:xfrm>
            <a:off x="7832719" y="2739730"/>
            <a:ext cx="3922908" cy="1831484"/>
          </a:xfrm>
          <a:prstGeom prst="roundRect">
            <a:avLst>
              <a:gd name="adj" fmla="val 17481"/>
            </a:avLst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9" name="Retângulo: Cantos Arredondados 2">
            <a:extLst>
              <a:ext uri="{FF2B5EF4-FFF2-40B4-BE49-F238E27FC236}">
                <a16:creationId xmlns:a16="http://schemas.microsoft.com/office/drawing/2014/main" id="{DAC640BA-CF40-E5CE-78BF-4F7D14E3B492}"/>
              </a:ext>
            </a:extLst>
          </p:cNvPr>
          <p:cNvSpPr/>
          <p:nvPr/>
        </p:nvSpPr>
        <p:spPr>
          <a:xfrm>
            <a:off x="135825" y="142536"/>
            <a:ext cx="1603523" cy="155935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0" name="Retângulo: Cantos Arredondados 5">
            <a:extLst>
              <a:ext uri="{FF2B5EF4-FFF2-40B4-BE49-F238E27FC236}">
                <a16:creationId xmlns:a16="http://schemas.microsoft.com/office/drawing/2014/main" id="{5ED1D5F3-A2A4-52D9-2F51-4B45F9CD7A54}"/>
              </a:ext>
            </a:extLst>
          </p:cNvPr>
          <p:cNvSpPr/>
          <p:nvPr/>
        </p:nvSpPr>
        <p:spPr>
          <a:xfrm>
            <a:off x="133425" y="2080310"/>
            <a:ext cx="1603522" cy="4666719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Retângulo: Cantos Arredondados 6">
            <a:extLst>
              <a:ext uri="{FF2B5EF4-FFF2-40B4-BE49-F238E27FC236}">
                <a16:creationId xmlns:a16="http://schemas.microsoft.com/office/drawing/2014/main" id="{90FFEEF0-29F8-95CF-01FE-9D925614102D}"/>
              </a:ext>
            </a:extLst>
          </p:cNvPr>
          <p:cNvSpPr/>
          <p:nvPr/>
        </p:nvSpPr>
        <p:spPr>
          <a:xfrm>
            <a:off x="135826" y="1480941"/>
            <a:ext cx="1360137" cy="770413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2" name="Retângulo: Cantos Arredondados 7">
            <a:extLst>
              <a:ext uri="{FF2B5EF4-FFF2-40B4-BE49-F238E27FC236}">
                <a16:creationId xmlns:a16="http://schemas.microsoft.com/office/drawing/2014/main" id="{40514535-744C-F023-3C5C-869E5C6EBA93}"/>
              </a:ext>
            </a:extLst>
          </p:cNvPr>
          <p:cNvSpPr/>
          <p:nvPr/>
        </p:nvSpPr>
        <p:spPr>
          <a:xfrm>
            <a:off x="225038" y="1701886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5" name="CaixaDeTexto 39">
            <a:extLst>
              <a:ext uri="{FF2B5EF4-FFF2-40B4-BE49-F238E27FC236}">
                <a16:creationId xmlns:a16="http://schemas.microsoft.com/office/drawing/2014/main" id="{5AA49FD4-F593-7B6E-E6E7-65B0198879D7}"/>
              </a:ext>
            </a:extLst>
          </p:cNvPr>
          <p:cNvSpPr txBox="1"/>
          <p:nvPr/>
        </p:nvSpPr>
        <p:spPr>
          <a:xfrm>
            <a:off x="277825" y="2478612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Operational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136" name="CaixaDeTexto 40">
            <a:extLst>
              <a:ext uri="{FF2B5EF4-FFF2-40B4-BE49-F238E27FC236}">
                <a16:creationId xmlns:a16="http://schemas.microsoft.com/office/drawing/2014/main" id="{44EEA5EB-3789-AB7E-FD1C-8AE29B760CB1}"/>
              </a:ext>
            </a:extLst>
          </p:cNvPr>
          <p:cNvSpPr txBox="1"/>
          <p:nvPr/>
        </p:nvSpPr>
        <p:spPr>
          <a:xfrm>
            <a:off x="277825" y="325506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Product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137" name="CaixaDeTexto 41">
            <a:extLst>
              <a:ext uri="{FF2B5EF4-FFF2-40B4-BE49-F238E27FC236}">
                <a16:creationId xmlns:a16="http://schemas.microsoft.com/office/drawing/2014/main" id="{B6FE9136-4FA5-40AD-D2D6-1643D9C30D2B}"/>
              </a:ext>
            </a:extLst>
          </p:cNvPr>
          <p:cNvSpPr txBox="1"/>
          <p:nvPr/>
        </p:nvSpPr>
        <p:spPr>
          <a:xfrm>
            <a:off x="200823" y="4110594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Customer/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Driver Risk</a:t>
            </a:r>
          </a:p>
        </p:txBody>
      </p:sp>
      <p:sp>
        <p:nvSpPr>
          <p:cNvPr id="139" name="Retângulo: Cantos Arredondados 7">
            <a:extLst>
              <a:ext uri="{FF2B5EF4-FFF2-40B4-BE49-F238E27FC236}">
                <a16:creationId xmlns:a16="http://schemas.microsoft.com/office/drawing/2014/main" id="{DFF7BB2F-CDE0-1F71-8F29-8A1EC54B3CF7}"/>
              </a:ext>
            </a:extLst>
          </p:cNvPr>
          <p:cNvSpPr/>
          <p:nvPr/>
        </p:nvSpPr>
        <p:spPr>
          <a:xfrm>
            <a:off x="1462344" y="1696452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CaixaDeTexto 10">
            <a:extLst>
              <a:ext uri="{FF2B5EF4-FFF2-40B4-BE49-F238E27FC236}">
                <a16:creationId xmlns:a16="http://schemas.microsoft.com/office/drawing/2014/main" id="{3C08B3F1-6EDE-F803-257A-78F78A08D99F}"/>
              </a:ext>
            </a:extLst>
          </p:cNvPr>
          <p:cNvSpPr txBox="1"/>
          <p:nvPr/>
        </p:nvSpPr>
        <p:spPr>
          <a:xfrm>
            <a:off x="277825" y="1739548"/>
            <a:ext cx="1481818" cy="317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Overview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F7A6FF6F-63D9-B32D-B10D-65D75D33220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00823" y="652238"/>
            <a:ext cx="1468726" cy="449547"/>
          </a:xfrm>
          <a:prstGeom prst="rect">
            <a:avLst/>
          </a:prstGeom>
          <a:ln>
            <a:solidFill>
              <a:srgbClr val="001643"/>
            </a:solidFill>
          </a:ln>
        </p:spPr>
      </p:pic>
      <p:sp>
        <p:nvSpPr>
          <p:cNvPr id="140" name="CaixaDeTexto 41">
            <a:extLst>
              <a:ext uri="{FF2B5EF4-FFF2-40B4-BE49-F238E27FC236}">
                <a16:creationId xmlns:a16="http://schemas.microsoft.com/office/drawing/2014/main" id="{FA2BEE24-FA09-2175-8709-C2DC4C9FFEB0}"/>
              </a:ext>
            </a:extLst>
          </p:cNvPr>
          <p:cNvSpPr txBox="1"/>
          <p:nvPr/>
        </p:nvSpPr>
        <p:spPr>
          <a:xfrm>
            <a:off x="165307" y="4973382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Fraud Risk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229907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5880D-1F1F-EC1D-B8B9-CB0064FB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20">
            <a:extLst>
              <a:ext uri="{FF2B5EF4-FFF2-40B4-BE49-F238E27FC236}">
                <a16:creationId xmlns:a16="http://schemas.microsoft.com/office/drawing/2014/main" id="{0F1FF0E5-0275-25C6-812C-7DA422831297}"/>
              </a:ext>
            </a:extLst>
          </p:cNvPr>
          <p:cNvSpPr/>
          <p:nvPr/>
        </p:nvSpPr>
        <p:spPr>
          <a:xfrm>
            <a:off x="9412563" y="925888"/>
            <a:ext cx="2643611" cy="1290209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20">
            <a:extLst>
              <a:ext uri="{FF2B5EF4-FFF2-40B4-BE49-F238E27FC236}">
                <a16:creationId xmlns:a16="http://schemas.microsoft.com/office/drawing/2014/main" id="{7B29234A-D8F7-8436-82E6-0A9DBA7B6451}"/>
              </a:ext>
            </a:extLst>
          </p:cNvPr>
          <p:cNvSpPr/>
          <p:nvPr/>
        </p:nvSpPr>
        <p:spPr>
          <a:xfrm>
            <a:off x="3987249" y="929740"/>
            <a:ext cx="2643611" cy="1276539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20">
            <a:extLst>
              <a:ext uri="{FF2B5EF4-FFF2-40B4-BE49-F238E27FC236}">
                <a16:creationId xmlns:a16="http://schemas.microsoft.com/office/drawing/2014/main" id="{B60B08C5-D831-D8D8-BA01-388B6D558773}"/>
              </a:ext>
            </a:extLst>
          </p:cNvPr>
          <p:cNvSpPr/>
          <p:nvPr/>
        </p:nvSpPr>
        <p:spPr>
          <a:xfrm>
            <a:off x="6700659" y="925888"/>
            <a:ext cx="2642105" cy="1276539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4">
            <a:extLst>
              <a:ext uri="{FF2B5EF4-FFF2-40B4-BE49-F238E27FC236}">
                <a16:creationId xmlns:a16="http://schemas.microsoft.com/office/drawing/2014/main" id="{9ED5FAFC-3ED0-04F8-054F-FDA0C6F5C361}"/>
              </a:ext>
            </a:extLst>
          </p:cNvPr>
          <p:cNvSpPr/>
          <p:nvPr/>
        </p:nvSpPr>
        <p:spPr>
          <a:xfrm>
            <a:off x="2107934" y="2293311"/>
            <a:ext cx="4951427" cy="2685105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: Cantos Arredondados 34">
            <a:extLst>
              <a:ext uri="{FF2B5EF4-FFF2-40B4-BE49-F238E27FC236}">
                <a16:creationId xmlns:a16="http://schemas.microsoft.com/office/drawing/2014/main" id="{142A174E-53B1-2392-D943-0EB9D2DAEA0C}"/>
              </a:ext>
            </a:extLst>
          </p:cNvPr>
          <p:cNvSpPr/>
          <p:nvPr/>
        </p:nvSpPr>
        <p:spPr>
          <a:xfrm>
            <a:off x="7104747" y="2292129"/>
            <a:ext cx="4951427" cy="2681253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34">
            <a:extLst>
              <a:ext uri="{FF2B5EF4-FFF2-40B4-BE49-F238E27FC236}">
                <a16:creationId xmlns:a16="http://schemas.microsoft.com/office/drawing/2014/main" id="{3E10C347-A714-32B8-134C-94F32C08CEB1}"/>
              </a:ext>
            </a:extLst>
          </p:cNvPr>
          <p:cNvSpPr/>
          <p:nvPr/>
        </p:nvSpPr>
        <p:spPr>
          <a:xfrm>
            <a:off x="2107934" y="5055630"/>
            <a:ext cx="9950642" cy="174963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6">
            <a:extLst>
              <a:ext uri="{FF2B5EF4-FFF2-40B4-BE49-F238E27FC236}">
                <a16:creationId xmlns:a16="http://schemas.microsoft.com/office/drawing/2014/main" id="{97358F32-52A2-30C3-9D16-C8C9F2018BDB}"/>
              </a:ext>
            </a:extLst>
          </p:cNvPr>
          <p:cNvSpPr/>
          <p:nvPr/>
        </p:nvSpPr>
        <p:spPr>
          <a:xfrm>
            <a:off x="135826" y="1480941"/>
            <a:ext cx="1360137" cy="770413"/>
          </a:xfrm>
          <a:prstGeom prst="roundRect">
            <a:avLst>
              <a:gd name="adj" fmla="val 6689"/>
            </a:avLst>
          </a:prstGeom>
          <a:solidFill>
            <a:srgbClr val="001643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2">
            <a:extLst>
              <a:ext uri="{FF2B5EF4-FFF2-40B4-BE49-F238E27FC236}">
                <a16:creationId xmlns:a16="http://schemas.microsoft.com/office/drawing/2014/main" id="{D91D8122-5AFE-F884-AA1F-49FE442E3ACD}"/>
              </a:ext>
            </a:extLst>
          </p:cNvPr>
          <p:cNvSpPr/>
          <p:nvPr/>
        </p:nvSpPr>
        <p:spPr>
          <a:xfrm>
            <a:off x="135825" y="52736"/>
            <a:ext cx="1603523" cy="164915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5">
            <a:extLst>
              <a:ext uri="{FF2B5EF4-FFF2-40B4-BE49-F238E27FC236}">
                <a16:creationId xmlns:a16="http://schemas.microsoft.com/office/drawing/2014/main" id="{FC2181B0-26A5-8407-97AD-BAF9E17B122D}"/>
              </a:ext>
            </a:extLst>
          </p:cNvPr>
          <p:cNvSpPr/>
          <p:nvPr/>
        </p:nvSpPr>
        <p:spPr>
          <a:xfrm>
            <a:off x="133425" y="2080310"/>
            <a:ext cx="1603522" cy="4724954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6">
            <a:extLst>
              <a:ext uri="{FF2B5EF4-FFF2-40B4-BE49-F238E27FC236}">
                <a16:creationId xmlns:a16="http://schemas.microsoft.com/office/drawing/2014/main" id="{0C61D2C3-6DCB-069D-B5C3-E556BBC06A43}"/>
              </a:ext>
            </a:extLst>
          </p:cNvPr>
          <p:cNvSpPr/>
          <p:nvPr/>
        </p:nvSpPr>
        <p:spPr>
          <a:xfrm>
            <a:off x="135826" y="1480941"/>
            <a:ext cx="1360137" cy="770413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7">
            <a:extLst>
              <a:ext uri="{FF2B5EF4-FFF2-40B4-BE49-F238E27FC236}">
                <a16:creationId xmlns:a16="http://schemas.microsoft.com/office/drawing/2014/main" id="{4C9C58A0-F2CE-C3D2-7853-CFF54661CC89}"/>
              </a:ext>
            </a:extLst>
          </p:cNvPr>
          <p:cNvSpPr/>
          <p:nvPr/>
        </p:nvSpPr>
        <p:spPr>
          <a:xfrm>
            <a:off x="225038" y="1701886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39">
            <a:extLst>
              <a:ext uri="{FF2B5EF4-FFF2-40B4-BE49-F238E27FC236}">
                <a16:creationId xmlns:a16="http://schemas.microsoft.com/office/drawing/2014/main" id="{FDD940B9-849B-0852-865B-ECB0A1AD19D0}"/>
              </a:ext>
            </a:extLst>
          </p:cNvPr>
          <p:cNvSpPr txBox="1"/>
          <p:nvPr/>
        </p:nvSpPr>
        <p:spPr>
          <a:xfrm>
            <a:off x="277825" y="2478612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Operational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23" name="CaixaDeTexto 40">
            <a:extLst>
              <a:ext uri="{FF2B5EF4-FFF2-40B4-BE49-F238E27FC236}">
                <a16:creationId xmlns:a16="http://schemas.microsoft.com/office/drawing/2014/main" id="{0A5AAA40-9EAE-4109-8372-0753B5F26FAB}"/>
              </a:ext>
            </a:extLst>
          </p:cNvPr>
          <p:cNvSpPr txBox="1"/>
          <p:nvPr/>
        </p:nvSpPr>
        <p:spPr>
          <a:xfrm>
            <a:off x="277825" y="325506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Product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24" name="CaixaDeTexto 41">
            <a:extLst>
              <a:ext uri="{FF2B5EF4-FFF2-40B4-BE49-F238E27FC236}">
                <a16:creationId xmlns:a16="http://schemas.microsoft.com/office/drawing/2014/main" id="{930D3A7D-17D8-E91C-784E-872E5E8D7BC9}"/>
              </a:ext>
            </a:extLst>
          </p:cNvPr>
          <p:cNvSpPr txBox="1"/>
          <p:nvPr/>
        </p:nvSpPr>
        <p:spPr>
          <a:xfrm>
            <a:off x="200823" y="4110594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Customer/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Driver Risk</a:t>
            </a:r>
          </a:p>
        </p:txBody>
      </p:sp>
      <p:sp>
        <p:nvSpPr>
          <p:cNvPr id="25" name="CaixaDeTexto 10">
            <a:extLst>
              <a:ext uri="{FF2B5EF4-FFF2-40B4-BE49-F238E27FC236}">
                <a16:creationId xmlns:a16="http://schemas.microsoft.com/office/drawing/2014/main" id="{446E5156-BAE2-4201-95F4-CD79A959102B}"/>
              </a:ext>
            </a:extLst>
          </p:cNvPr>
          <p:cNvSpPr txBox="1"/>
          <p:nvPr/>
        </p:nvSpPr>
        <p:spPr>
          <a:xfrm>
            <a:off x="277825" y="1739548"/>
            <a:ext cx="1481818" cy="317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Overview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63ACC7F-A64C-1B78-DB89-E576CA986C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00823" y="652238"/>
            <a:ext cx="1468726" cy="449547"/>
          </a:xfrm>
          <a:prstGeom prst="rect">
            <a:avLst/>
          </a:prstGeom>
          <a:ln>
            <a:solidFill>
              <a:srgbClr val="001643"/>
            </a:solidFill>
          </a:ln>
        </p:spPr>
      </p:pic>
      <p:sp>
        <p:nvSpPr>
          <p:cNvPr id="27" name="CaixaDeTexto 41">
            <a:extLst>
              <a:ext uri="{FF2B5EF4-FFF2-40B4-BE49-F238E27FC236}">
                <a16:creationId xmlns:a16="http://schemas.microsoft.com/office/drawing/2014/main" id="{0DFBB012-A185-A3CF-0ACE-824696C4D4AD}"/>
              </a:ext>
            </a:extLst>
          </p:cNvPr>
          <p:cNvSpPr txBox="1"/>
          <p:nvPr/>
        </p:nvSpPr>
        <p:spPr>
          <a:xfrm>
            <a:off x="165307" y="4973382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Fraud Risk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Framework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CF5715-275F-5D48-EB87-D935B8C9A5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262" y="1170683"/>
            <a:ext cx="483598" cy="483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3D345A-34F8-3212-27A7-2B9598490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256" y="1207230"/>
            <a:ext cx="433080" cy="447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65509F-08A4-4A83-5391-57BB08AEC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9241" y="1254165"/>
            <a:ext cx="447721" cy="44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6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C891E-EE5E-1D81-F75D-A68BC53F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20">
            <a:extLst>
              <a:ext uri="{FF2B5EF4-FFF2-40B4-BE49-F238E27FC236}">
                <a16:creationId xmlns:a16="http://schemas.microsoft.com/office/drawing/2014/main" id="{923D6870-F6DD-F4DD-146F-C2F7EAE47CF6}"/>
              </a:ext>
            </a:extLst>
          </p:cNvPr>
          <p:cNvSpPr/>
          <p:nvPr/>
        </p:nvSpPr>
        <p:spPr>
          <a:xfrm>
            <a:off x="4257967" y="32981"/>
            <a:ext cx="7798208" cy="2180881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7">
            <a:extLst>
              <a:ext uri="{FF2B5EF4-FFF2-40B4-BE49-F238E27FC236}">
                <a16:creationId xmlns:a16="http://schemas.microsoft.com/office/drawing/2014/main" id="{BC132355-559C-EE71-9E29-F4CF3F574EED}"/>
              </a:ext>
            </a:extLst>
          </p:cNvPr>
          <p:cNvSpPr/>
          <p:nvPr/>
        </p:nvSpPr>
        <p:spPr>
          <a:xfrm>
            <a:off x="225038" y="1701886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20">
            <a:extLst>
              <a:ext uri="{FF2B5EF4-FFF2-40B4-BE49-F238E27FC236}">
                <a16:creationId xmlns:a16="http://schemas.microsoft.com/office/drawing/2014/main" id="{B0E4E8ED-8ABB-46F7-AEED-2E3867842168}"/>
              </a:ext>
            </a:extLst>
          </p:cNvPr>
          <p:cNvSpPr/>
          <p:nvPr/>
        </p:nvSpPr>
        <p:spPr>
          <a:xfrm>
            <a:off x="4292867" y="2284954"/>
            <a:ext cx="7763308" cy="2262862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20">
            <a:extLst>
              <a:ext uri="{FF2B5EF4-FFF2-40B4-BE49-F238E27FC236}">
                <a16:creationId xmlns:a16="http://schemas.microsoft.com/office/drawing/2014/main" id="{5F820B0A-6ADB-56E1-CFD2-BB47C1132348}"/>
              </a:ext>
            </a:extLst>
          </p:cNvPr>
          <p:cNvSpPr/>
          <p:nvPr/>
        </p:nvSpPr>
        <p:spPr>
          <a:xfrm>
            <a:off x="4292867" y="4600054"/>
            <a:ext cx="7763308" cy="2224964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20">
            <a:extLst>
              <a:ext uri="{FF2B5EF4-FFF2-40B4-BE49-F238E27FC236}">
                <a16:creationId xmlns:a16="http://schemas.microsoft.com/office/drawing/2014/main" id="{7444E722-1628-EDFA-618A-7E757457BF82}"/>
              </a:ext>
            </a:extLst>
          </p:cNvPr>
          <p:cNvSpPr/>
          <p:nvPr/>
        </p:nvSpPr>
        <p:spPr>
          <a:xfrm>
            <a:off x="2327327" y="99191"/>
            <a:ext cx="1895740" cy="1012901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">
            <a:extLst>
              <a:ext uri="{FF2B5EF4-FFF2-40B4-BE49-F238E27FC236}">
                <a16:creationId xmlns:a16="http://schemas.microsoft.com/office/drawing/2014/main" id="{4B1001A4-7CBF-03F2-E04E-8B7723DBCD41}"/>
              </a:ext>
            </a:extLst>
          </p:cNvPr>
          <p:cNvSpPr/>
          <p:nvPr/>
        </p:nvSpPr>
        <p:spPr>
          <a:xfrm>
            <a:off x="135825" y="52736"/>
            <a:ext cx="1603523" cy="2377924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6">
            <a:extLst>
              <a:ext uri="{FF2B5EF4-FFF2-40B4-BE49-F238E27FC236}">
                <a16:creationId xmlns:a16="http://schemas.microsoft.com/office/drawing/2014/main" id="{C074F372-1B1D-BDFC-E75B-F0DAA36224DD}"/>
              </a:ext>
            </a:extLst>
          </p:cNvPr>
          <p:cNvSpPr/>
          <p:nvPr/>
        </p:nvSpPr>
        <p:spPr>
          <a:xfrm>
            <a:off x="133425" y="2213862"/>
            <a:ext cx="1360137" cy="1008917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14">
            <a:extLst>
              <a:ext uri="{FF2B5EF4-FFF2-40B4-BE49-F238E27FC236}">
                <a16:creationId xmlns:a16="http://schemas.microsoft.com/office/drawing/2014/main" id="{0CF3BCF9-19E1-938E-C12F-9751B16D0271}"/>
              </a:ext>
            </a:extLst>
          </p:cNvPr>
          <p:cNvSpPr/>
          <p:nvPr/>
        </p:nvSpPr>
        <p:spPr>
          <a:xfrm>
            <a:off x="225038" y="2430660"/>
            <a:ext cx="1629857" cy="578758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10">
            <a:extLst>
              <a:ext uri="{FF2B5EF4-FFF2-40B4-BE49-F238E27FC236}">
                <a16:creationId xmlns:a16="http://schemas.microsoft.com/office/drawing/2014/main" id="{A7F623C0-3826-1141-F7C7-585C9B21B3E9}"/>
              </a:ext>
            </a:extLst>
          </p:cNvPr>
          <p:cNvSpPr txBox="1"/>
          <p:nvPr/>
        </p:nvSpPr>
        <p:spPr>
          <a:xfrm>
            <a:off x="277826" y="2478612"/>
            <a:ext cx="1314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Operational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35" name="Retângulo: Cantos Arredondados 7">
            <a:extLst>
              <a:ext uri="{FF2B5EF4-FFF2-40B4-BE49-F238E27FC236}">
                <a16:creationId xmlns:a16="http://schemas.microsoft.com/office/drawing/2014/main" id="{9DB1FDE3-4B9F-7DFE-4686-1677BA29B17C}"/>
              </a:ext>
            </a:extLst>
          </p:cNvPr>
          <p:cNvSpPr/>
          <p:nvPr/>
        </p:nvSpPr>
        <p:spPr>
          <a:xfrm>
            <a:off x="135826" y="3001832"/>
            <a:ext cx="1603522" cy="3795846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2">
            <a:extLst>
              <a:ext uri="{FF2B5EF4-FFF2-40B4-BE49-F238E27FC236}">
                <a16:creationId xmlns:a16="http://schemas.microsoft.com/office/drawing/2014/main" id="{899CE01C-F81D-301C-85FC-75ECC5149718}"/>
              </a:ext>
            </a:extLst>
          </p:cNvPr>
          <p:cNvSpPr txBox="1"/>
          <p:nvPr/>
        </p:nvSpPr>
        <p:spPr>
          <a:xfrm>
            <a:off x="277825" y="174445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Overview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832532-B05C-D186-BD81-3C6462EE7E6D}"/>
              </a:ext>
            </a:extLst>
          </p:cNvPr>
          <p:cNvSpPr txBox="1"/>
          <p:nvPr/>
        </p:nvSpPr>
        <p:spPr>
          <a:xfrm>
            <a:off x="277825" y="325506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Product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EA87D1D-D1F5-CD1A-E055-A879B39030E6}"/>
              </a:ext>
            </a:extLst>
          </p:cNvPr>
          <p:cNvSpPr txBox="1"/>
          <p:nvPr/>
        </p:nvSpPr>
        <p:spPr>
          <a:xfrm>
            <a:off x="277825" y="4050422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Customer/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Driver Risk</a:t>
            </a:r>
          </a:p>
        </p:txBody>
      </p:sp>
      <p:sp>
        <p:nvSpPr>
          <p:cNvPr id="48" name="CaixaDeTexto 41">
            <a:extLst>
              <a:ext uri="{FF2B5EF4-FFF2-40B4-BE49-F238E27FC236}">
                <a16:creationId xmlns:a16="http://schemas.microsoft.com/office/drawing/2014/main" id="{FD0693BC-D528-AFA0-3141-38DD47BBBAAC}"/>
              </a:ext>
            </a:extLst>
          </p:cNvPr>
          <p:cNvSpPr txBox="1"/>
          <p:nvPr/>
        </p:nvSpPr>
        <p:spPr>
          <a:xfrm>
            <a:off x="165307" y="4973382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Fraud Risk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Framework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7ECA2B1-91FF-9175-BF12-C61C53E2D5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00823" y="652238"/>
            <a:ext cx="1468726" cy="449547"/>
          </a:xfrm>
          <a:prstGeom prst="rect">
            <a:avLst/>
          </a:prstGeom>
          <a:ln>
            <a:solidFill>
              <a:srgbClr val="001643"/>
            </a:solidFill>
          </a:ln>
        </p:spPr>
      </p:pic>
      <p:sp>
        <p:nvSpPr>
          <p:cNvPr id="55" name="Retângulo: Cantos Arredondados 20">
            <a:extLst>
              <a:ext uri="{FF2B5EF4-FFF2-40B4-BE49-F238E27FC236}">
                <a16:creationId xmlns:a16="http://schemas.microsoft.com/office/drawing/2014/main" id="{DE69B6C7-B139-159C-9157-45C55AB729AA}"/>
              </a:ext>
            </a:extLst>
          </p:cNvPr>
          <p:cNvSpPr/>
          <p:nvPr/>
        </p:nvSpPr>
        <p:spPr>
          <a:xfrm>
            <a:off x="2327327" y="1140044"/>
            <a:ext cx="1895740" cy="1328875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20">
            <a:extLst>
              <a:ext uri="{FF2B5EF4-FFF2-40B4-BE49-F238E27FC236}">
                <a16:creationId xmlns:a16="http://schemas.microsoft.com/office/drawing/2014/main" id="{0D9838DD-8A2D-7A23-6D60-39D7627EA9E8}"/>
              </a:ext>
            </a:extLst>
          </p:cNvPr>
          <p:cNvSpPr/>
          <p:nvPr/>
        </p:nvSpPr>
        <p:spPr>
          <a:xfrm>
            <a:off x="2344777" y="2496871"/>
            <a:ext cx="1895740" cy="1387482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20">
            <a:extLst>
              <a:ext uri="{FF2B5EF4-FFF2-40B4-BE49-F238E27FC236}">
                <a16:creationId xmlns:a16="http://schemas.microsoft.com/office/drawing/2014/main" id="{6DA2D685-0116-143A-0444-828EF8D1872F}"/>
              </a:ext>
            </a:extLst>
          </p:cNvPr>
          <p:cNvSpPr/>
          <p:nvPr/>
        </p:nvSpPr>
        <p:spPr>
          <a:xfrm>
            <a:off x="2362227" y="3912305"/>
            <a:ext cx="1895740" cy="1387482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20">
            <a:extLst>
              <a:ext uri="{FF2B5EF4-FFF2-40B4-BE49-F238E27FC236}">
                <a16:creationId xmlns:a16="http://schemas.microsoft.com/office/drawing/2014/main" id="{96B911E7-984E-9AD7-6A61-C4047B80DA60}"/>
              </a:ext>
            </a:extLst>
          </p:cNvPr>
          <p:cNvSpPr/>
          <p:nvPr/>
        </p:nvSpPr>
        <p:spPr>
          <a:xfrm>
            <a:off x="2362227" y="5338047"/>
            <a:ext cx="1895740" cy="1387482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372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EAF5-C9C4-305B-670C-294BE3CFB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7">
            <a:extLst>
              <a:ext uri="{FF2B5EF4-FFF2-40B4-BE49-F238E27FC236}">
                <a16:creationId xmlns:a16="http://schemas.microsoft.com/office/drawing/2014/main" id="{32960BE5-FD64-3A94-642E-F948E50B2C7E}"/>
              </a:ext>
            </a:extLst>
          </p:cNvPr>
          <p:cNvSpPr/>
          <p:nvPr/>
        </p:nvSpPr>
        <p:spPr>
          <a:xfrm>
            <a:off x="135826" y="3778286"/>
            <a:ext cx="1603522" cy="3019392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">
            <a:extLst>
              <a:ext uri="{FF2B5EF4-FFF2-40B4-BE49-F238E27FC236}">
                <a16:creationId xmlns:a16="http://schemas.microsoft.com/office/drawing/2014/main" id="{56E51B01-462C-35FB-3DE1-CBE7876EBFEA}"/>
              </a:ext>
            </a:extLst>
          </p:cNvPr>
          <p:cNvSpPr/>
          <p:nvPr/>
        </p:nvSpPr>
        <p:spPr>
          <a:xfrm>
            <a:off x="135825" y="52735"/>
            <a:ext cx="1603523" cy="3162733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20">
            <a:extLst>
              <a:ext uri="{FF2B5EF4-FFF2-40B4-BE49-F238E27FC236}">
                <a16:creationId xmlns:a16="http://schemas.microsoft.com/office/drawing/2014/main" id="{7B849694-F16F-BC29-863C-BDCFD362C1F9}"/>
              </a:ext>
            </a:extLst>
          </p:cNvPr>
          <p:cNvSpPr/>
          <p:nvPr/>
        </p:nvSpPr>
        <p:spPr>
          <a:xfrm>
            <a:off x="3171996" y="52735"/>
            <a:ext cx="4313316" cy="4196119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6">
            <a:extLst>
              <a:ext uri="{FF2B5EF4-FFF2-40B4-BE49-F238E27FC236}">
                <a16:creationId xmlns:a16="http://schemas.microsoft.com/office/drawing/2014/main" id="{18341265-E448-93EA-69E8-BFD158491522}"/>
              </a:ext>
            </a:extLst>
          </p:cNvPr>
          <p:cNvSpPr/>
          <p:nvPr/>
        </p:nvSpPr>
        <p:spPr>
          <a:xfrm>
            <a:off x="133425" y="3114004"/>
            <a:ext cx="1360137" cy="89682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17">
            <a:extLst>
              <a:ext uri="{FF2B5EF4-FFF2-40B4-BE49-F238E27FC236}">
                <a16:creationId xmlns:a16="http://schemas.microsoft.com/office/drawing/2014/main" id="{B7FFA9AA-0A27-0FED-688E-FB19D1D7CEA9}"/>
              </a:ext>
            </a:extLst>
          </p:cNvPr>
          <p:cNvSpPr/>
          <p:nvPr/>
        </p:nvSpPr>
        <p:spPr>
          <a:xfrm>
            <a:off x="225038" y="3217215"/>
            <a:ext cx="1629857" cy="561071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0A40CD45-0975-DCA0-606A-2423F4022135}"/>
              </a:ext>
            </a:extLst>
          </p:cNvPr>
          <p:cNvSpPr txBox="1"/>
          <p:nvPr/>
        </p:nvSpPr>
        <p:spPr>
          <a:xfrm>
            <a:off x="277825" y="3255067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Product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11" name="CaixaDeTexto 31">
            <a:extLst>
              <a:ext uri="{FF2B5EF4-FFF2-40B4-BE49-F238E27FC236}">
                <a16:creationId xmlns:a16="http://schemas.microsoft.com/office/drawing/2014/main" id="{D144C350-2A54-E820-DDAE-1428FF41CF84}"/>
              </a:ext>
            </a:extLst>
          </p:cNvPr>
          <p:cNvSpPr txBox="1"/>
          <p:nvPr/>
        </p:nvSpPr>
        <p:spPr>
          <a:xfrm>
            <a:off x="277825" y="2478612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Operational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17" name="CaixaDeTexto 37">
            <a:extLst>
              <a:ext uri="{FF2B5EF4-FFF2-40B4-BE49-F238E27FC236}">
                <a16:creationId xmlns:a16="http://schemas.microsoft.com/office/drawing/2014/main" id="{0EF2A95F-D23E-11E0-D605-B8A048F8E558}"/>
              </a:ext>
            </a:extLst>
          </p:cNvPr>
          <p:cNvSpPr txBox="1"/>
          <p:nvPr/>
        </p:nvSpPr>
        <p:spPr>
          <a:xfrm>
            <a:off x="277825" y="174445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Overview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6F2812-5F10-70AB-28EE-A11EE936A0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00823" y="652238"/>
            <a:ext cx="1468726" cy="449547"/>
          </a:xfrm>
          <a:prstGeom prst="rect">
            <a:avLst/>
          </a:prstGeom>
          <a:ln>
            <a:solidFill>
              <a:srgbClr val="001643"/>
            </a:solidFill>
          </a:ln>
        </p:spPr>
      </p:pic>
      <p:sp>
        <p:nvSpPr>
          <p:cNvPr id="12" name="CaixaDeTexto 32">
            <a:extLst>
              <a:ext uri="{FF2B5EF4-FFF2-40B4-BE49-F238E27FC236}">
                <a16:creationId xmlns:a16="http://schemas.microsoft.com/office/drawing/2014/main" id="{0E6A9BE8-B22E-150B-2020-C3AB9EC81843}"/>
              </a:ext>
            </a:extLst>
          </p:cNvPr>
          <p:cNvSpPr txBox="1"/>
          <p:nvPr/>
        </p:nvSpPr>
        <p:spPr>
          <a:xfrm>
            <a:off x="277825" y="4050422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Customer/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Driver Risk</a:t>
            </a:r>
          </a:p>
        </p:txBody>
      </p:sp>
      <p:sp>
        <p:nvSpPr>
          <p:cNvPr id="18" name="CaixaDeTexto 41">
            <a:extLst>
              <a:ext uri="{FF2B5EF4-FFF2-40B4-BE49-F238E27FC236}">
                <a16:creationId xmlns:a16="http://schemas.microsoft.com/office/drawing/2014/main" id="{40228C54-A7C7-6958-546E-DD87C9E09BBF}"/>
              </a:ext>
            </a:extLst>
          </p:cNvPr>
          <p:cNvSpPr txBox="1"/>
          <p:nvPr/>
        </p:nvSpPr>
        <p:spPr>
          <a:xfrm>
            <a:off x="165307" y="4973382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Fraud Risk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Framework</a:t>
            </a:r>
          </a:p>
        </p:txBody>
      </p:sp>
      <p:sp>
        <p:nvSpPr>
          <p:cNvPr id="36" name="Retângulo: Cantos Arredondados 20">
            <a:extLst>
              <a:ext uri="{FF2B5EF4-FFF2-40B4-BE49-F238E27FC236}">
                <a16:creationId xmlns:a16="http://schemas.microsoft.com/office/drawing/2014/main" id="{225987CE-6468-048C-3352-CB4271094265}"/>
              </a:ext>
            </a:extLst>
          </p:cNvPr>
          <p:cNvSpPr/>
          <p:nvPr/>
        </p:nvSpPr>
        <p:spPr>
          <a:xfrm>
            <a:off x="7600859" y="52735"/>
            <a:ext cx="4313316" cy="4196119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20">
            <a:extLst>
              <a:ext uri="{FF2B5EF4-FFF2-40B4-BE49-F238E27FC236}">
                <a16:creationId xmlns:a16="http://schemas.microsoft.com/office/drawing/2014/main" id="{A2A08B1F-4C13-F95A-6564-F0EF9CC02821}"/>
              </a:ext>
            </a:extLst>
          </p:cNvPr>
          <p:cNvSpPr/>
          <p:nvPr/>
        </p:nvSpPr>
        <p:spPr>
          <a:xfrm>
            <a:off x="3638550" y="4312033"/>
            <a:ext cx="1847850" cy="793368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20">
            <a:extLst>
              <a:ext uri="{FF2B5EF4-FFF2-40B4-BE49-F238E27FC236}">
                <a16:creationId xmlns:a16="http://schemas.microsoft.com/office/drawing/2014/main" id="{3AEB5552-E590-B0DE-4CB7-B348AA8273C0}"/>
              </a:ext>
            </a:extLst>
          </p:cNvPr>
          <p:cNvSpPr/>
          <p:nvPr/>
        </p:nvSpPr>
        <p:spPr>
          <a:xfrm>
            <a:off x="3638550" y="5168579"/>
            <a:ext cx="1847850" cy="1389937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20">
            <a:extLst>
              <a:ext uri="{FF2B5EF4-FFF2-40B4-BE49-F238E27FC236}">
                <a16:creationId xmlns:a16="http://schemas.microsoft.com/office/drawing/2014/main" id="{50E0EF07-A122-C3A2-2B87-D0104A5AFBD0}"/>
              </a:ext>
            </a:extLst>
          </p:cNvPr>
          <p:cNvSpPr/>
          <p:nvPr/>
        </p:nvSpPr>
        <p:spPr>
          <a:xfrm>
            <a:off x="5586917" y="4312032"/>
            <a:ext cx="3109407" cy="2246484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20">
            <a:extLst>
              <a:ext uri="{FF2B5EF4-FFF2-40B4-BE49-F238E27FC236}">
                <a16:creationId xmlns:a16="http://schemas.microsoft.com/office/drawing/2014/main" id="{AB147DA6-0718-7CE0-E355-FF257F98E348}"/>
              </a:ext>
            </a:extLst>
          </p:cNvPr>
          <p:cNvSpPr/>
          <p:nvPr/>
        </p:nvSpPr>
        <p:spPr>
          <a:xfrm>
            <a:off x="8804768" y="4312032"/>
            <a:ext cx="3109407" cy="2246484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209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DF9A3-8F4A-7AF1-9873-A886A1CF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: Cantos Arredondados 7">
            <a:extLst>
              <a:ext uri="{FF2B5EF4-FFF2-40B4-BE49-F238E27FC236}">
                <a16:creationId xmlns:a16="http://schemas.microsoft.com/office/drawing/2014/main" id="{542256DA-0011-2F5B-6E3F-E254696B0B66}"/>
              </a:ext>
            </a:extLst>
          </p:cNvPr>
          <p:cNvSpPr/>
          <p:nvPr/>
        </p:nvSpPr>
        <p:spPr>
          <a:xfrm>
            <a:off x="135826" y="4600054"/>
            <a:ext cx="1603522" cy="2197623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2">
            <a:extLst>
              <a:ext uri="{FF2B5EF4-FFF2-40B4-BE49-F238E27FC236}">
                <a16:creationId xmlns:a16="http://schemas.microsoft.com/office/drawing/2014/main" id="{39D1CBA4-50D9-8489-CD8D-D7657709C2D3}"/>
              </a:ext>
            </a:extLst>
          </p:cNvPr>
          <p:cNvSpPr/>
          <p:nvPr/>
        </p:nvSpPr>
        <p:spPr>
          <a:xfrm>
            <a:off x="135825" y="52735"/>
            <a:ext cx="1603523" cy="3953619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20">
            <a:extLst>
              <a:ext uri="{FF2B5EF4-FFF2-40B4-BE49-F238E27FC236}">
                <a16:creationId xmlns:a16="http://schemas.microsoft.com/office/drawing/2014/main" id="{EC56BDF3-7EA0-710C-18A1-A1D58157A301}"/>
              </a:ext>
            </a:extLst>
          </p:cNvPr>
          <p:cNvSpPr/>
          <p:nvPr/>
        </p:nvSpPr>
        <p:spPr>
          <a:xfrm>
            <a:off x="4292867" y="32981"/>
            <a:ext cx="7763308" cy="2180881"/>
          </a:xfrm>
          <a:prstGeom prst="roundRect">
            <a:avLst>
              <a:gd name="adj" fmla="val 17481"/>
            </a:avLst>
          </a:prstGeom>
          <a:solidFill>
            <a:schemeClr val="bg1">
              <a:alpha val="75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20">
            <a:extLst>
              <a:ext uri="{FF2B5EF4-FFF2-40B4-BE49-F238E27FC236}">
                <a16:creationId xmlns:a16="http://schemas.microsoft.com/office/drawing/2014/main" id="{D3B0E0B5-84B3-3CDD-112F-9746B2BA4F9D}"/>
              </a:ext>
            </a:extLst>
          </p:cNvPr>
          <p:cNvSpPr/>
          <p:nvPr/>
        </p:nvSpPr>
        <p:spPr>
          <a:xfrm>
            <a:off x="4292867" y="2284954"/>
            <a:ext cx="7763308" cy="2262862"/>
          </a:xfrm>
          <a:prstGeom prst="roundRect">
            <a:avLst>
              <a:gd name="adj" fmla="val 17481"/>
            </a:avLst>
          </a:prstGeom>
          <a:solidFill>
            <a:schemeClr val="bg1">
              <a:alpha val="48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20">
            <a:extLst>
              <a:ext uri="{FF2B5EF4-FFF2-40B4-BE49-F238E27FC236}">
                <a16:creationId xmlns:a16="http://schemas.microsoft.com/office/drawing/2014/main" id="{EB5F95AD-0BF1-8B42-C205-558E7985A468}"/>
              </a:ext>
            </a:extLst>
          </p:cNvPr>
          <p:cNvSpPr/>
          <p:nvPr/>
        </p:nvSpPr>
        <p:spPr>
          <a:xfrm>
            <a:off x="4292867" y="4600054"/>
            <a:ext cx="7763308" cy="2224964"/>
          </a:xfrm>
          <a:prstGeom prst="roundRect">
            <a:avLst>
              <a:gd name="adj" fmla="val 17481"/>
            </a:avLst>
          </a:prstGeom>
          <a:solidFill>
            <a:schemeClr val="bg1">
              <a:alpha val="82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20">
            <a:extLst>
              <a:ext uri="{FF2B5EF4-FFF2-40B4-BE49-F238E27FC236}">
                <a16:creationId xmlns:a16="http://schemas.microsoft.com/office/drawing/2014/main" id="{2194065C-F4B9-5F14-2155-B0ACBE115B0E}"/>
              </a:ext>
            </a:extLst>
          </p:cNvPr>
          <p:cNvSpPr/>
          <p:nvPr/>
        </p:nvSpPr>
        <p:spPr>
          <a:xfrm>
            <a:off x="2449184" y="32981"/>
            <a:ext cx="1773883" cy="2180881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20">
            <a:extLst>
              <a:ext uri="{FF2B5EF4-FFF2-40B4-BE49-F238E27FC236}">
                <a16:creationId xmlns:a16="http://schemas.microsoft.com/office/drawing/2014/main" id="{D1ED0F0D-DFD3-2848-48D0-9831A87CC2EC}"/>
              </a:ext>
            </a:extLst>
          </p:cNvPr>
          <p:cNvSpPr/>
          <p:nvPr/>
        </p:nvSpPr>
        <p:spPr>
          <a:xfrm>
            <a:off x="2449184" y="2294273"/>
            <a:ext cx="1773883" cy="2262862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0">
            <a:extLst>
              <a:ext uri="{FF2B5EF4-FFF2-40B4-BE49-F238E27FC236}">
                <a16:creationId xmlns:a16="http://schemas.microsoft.com/office/drawing/2014/main" id="{963C1A07-9130-5FD9-D007-F4E92ECE62FC}"/>
              </a:ext>
            </a:extLst>
          </p:cNvPr>
          <p:cNvSpPr/>
          <p:nvPr/>
        </p:nvSpPr>
        <p:spPr>
          <a:xfrm>
            <a:off x="2449184" y="4600054"/>
            <a:ext cx="1773883" cy="2224964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6">
            <a:extLst>
              <a:ext uri="{FF2B5EF4-FFF2-40B4-BE49-F238E27FC236}">
                <a16:creationId xmlns:a16="http://schemas.microsoft.com/office/drawing/2014/main" id="{65B491F0-C84B-6267-F5CC-C89D757945A0}"/>
              </a:ext>
            </a:extLst>
          </p:cNvPr>
          <p:cNvSpPr/>
          <p:nvPr/>
        </p:nvSpPr>
        <p:spPr>
          <a:xfrm>
            <a:off x="135825" y="3856169"/>
            <a:ext cx="1360137" cy="980554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5">
            <a:extLst>
              <a:ext uri="{FF2B5EF4-FFF2-40B4-BE49-F238E27FC236}">
                <a16:creationId xmlns:a16="http://schemas.microsoft.com/office/drawing/2014/main" id="{1C93BF8F-459C-ED23-D182-F845963F3BBD}"/>
              </a:ext>
            </a:extLst>
          </p:cNvPr>
          <p:cNvSpPr/>
          <p:nvPr/>
        </p:nvSpPr>
        <p:spPr>
          <a:xfrm>
            <a:off x="225038" y="4006354"/>
            <a:ext cx="1629857" cy="593700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10">
            <a:extLst>
              <a:ext uri="{FF2B5EF4-FFF2-40B4-BE49-F238E27FC236}">
                <a16:creationId xmlns:a16="http://schemas.microsoft.com/office/drawing/2014/main" id="{A2154303-1CEC-4B6E-1D98-F0892D42D24C}"/>
              </a:ext>
            </a:extLst>
          </p:cNvPr>
          <p:cNvSpPr txBox="1"/>
          <p:nvPr/>
        </p:nvSpPr>
        <p:spPr>
          <a:xfrm>
            <a:off x="277825" y="4050422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Customer/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Driver Risk</a:t>
            </a:r>
          </a:p>
        </p:txBody>
      </p:sp>
      <p:sp>
        <p:nvSpPr>
          <p:cNvPr id="27" name="CaixaDeTexto 37">
            <a:extLst>
              <a:ext uri="{FF2B5EF4-FFF2-40B4-BE49-F238E27FC236}">
                <a16:creationId xmlns:a16="http://schemas.microsoft.com/office/drawing/2014/main" id="{15015871-C631-AEB6-9E70-D8CAA963C712}"/>
              </a:ext>
            </a:extLst>
          </p:cNvPr>
          <p:cNvSpPr txBox="1"/>
          <p:nvPr/>
        </p:nvSpPr>
        <p:spPr>
          <a:xfrm>
            <a:off x="277825" y="3255067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Product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25" name="CaixaDeTexto 31">
            <a:extLst>
              <a:ext uri="{FF2B5EF4-FFF2-40B4-BE49-F238E27FC236}">
                <a16:creationId xmlns:a16="http://schemas.microsoft.com/office/drawing/2014/main" id="{A7CDF33E-E2AC-47E6-F953-D60A1AECE964}"/>
              </a:ext>
            </a:extLst>
          </p:cNvPr>
          <p:cNvSpPr txBox="1"/>
          <p:nvPr/>
        </p:nvSpPr>
        <p:spPr>
          <a:xfrm>
            <a:off x="277825" y="2478612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Operational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26" name="CaixaDeTexto 32">
            <a:extLst>
              <a:ext uri="{FF2B5EF4-FFF2-40B4-BE49-F238E27FC236}">
                <a16:creationId xmlns:a16="http://schemas.microsoft.com/office/drawing/2014/main" id="{34DDF901-5157-DB3A-9B53-D30039885AC2}"/>
              </a:ext>
            </a:extLst>
          </p:cNvPr>
          <p:cNvSpPr txBox="1"/>
          <p:nvPr/>
        </p:nvSpPr>
        <p:spPr>
          <a:xfrm>
            <a:off x="277825" y="174445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Overview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FEF4C73-E4FE-8706-88D6-3FC62A119D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00823" y="652238"/>
            <a:ext cx="1468726" cy="449547"/>
          </a:xfrm>
          <a:prstGeom prst="rect">
            <a:avLst/>
          </a:prstGeom>
          <a:ln>
            <a:solidFill>
              <a:srgbClr val="001643"/>
            </a:solidFill>
          </a:ln>
        </p:spPr>
      </p:pic>
      <p:sp>
        <p:nvSpPr>
          <p:cNvPr id="29" name="CaixaDeTexto 41">
            <a:extLst>
              <a:ext uri="{FF2B5EF4-FFF2-40B4-BE49-F238E27FC236}">
                <a16:creationId xmlns:a16="http://schemas.microsoft.com/office/drawing/2014/main" id="{2376AB6B-C0D9-938E-1E4D-BBFE7FE025EA}"/>
              </a:ext>
            </a:extLst>
          </p:cNvPr>
          <p:cNvSpPr txBox="1"/>
          <p:nvPr/>
        </p:nvSpPr>
        <p:spPr>
          <a:xfrm>
            <a:off x="165307" y="4973382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Fraud Risk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177050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A68FB-6360-D97D-52FA-344A2C0E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20">
            <a:extLst>
              <a:ext uri="{FF2B5EF4-FFF2-40B4-BE49-F238E27FC236}">
                <a16:creationId xmlns:a16="http://schemas.microsoft.com/office/drawing/2014/main" id="{DB5DD8E2-3D5E-18BF-E34B-B8FB70F94CFE}"/>
              </a:ext>
            </a:extLst>
          </p:cNvPr>
          <p:cNvSpPr/>
          <p:nvPr/>
        </p:nvSpPr>
        <p:spPr>
          <a:xfrm>
            <a:off x="4292867" y="32981"/>
            <a:ext cx="7763308" cy="2180881"/>
          </a:xfrm>
          <a:prstGeom prst="roundRect">
            <a:avLst>
              <a:gd name="adj" fmla="val 17481"/>
            </a:avLst>
          </a:prstGeom>
          <a:solidFill>
            <a:schemeClr val="bg1">
              <a:alpha val="75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20">
            <a:extLst>
              <a:ext uri="{FF2B5EF4-FFF2-40B4-BE49-F238E27FC236}">
                <a16:creationId xmlns:a16="http://schemas.microsoft.com/office/drawing/2014/main" id="{E11891AB-3DAB-77A5-B7F4-8C9D96D8BDE0}"/>
              </a:ext>
            </a:extLst>
          </p:cNvPr>
          <p:cNvSpPr/>
          <p:nvPr/>
        </p:nvSpPr>
        <p:spPr>
          <a:xfrm>
            <a:off x="4292867" y="2284954"/>
            <a:ext cx="7763308" cy="2262862"/>
          </a:xfrm>
          <a:prstGeom prst="roundRect">
            <a:avLst>
              <a:gd name="adj" fmla="val 17481"/>
            </a:avLst>
          </a:prstGeom>
          <a:solidFill>
            <a:schemeClr val="bg1">
              <a:alpha val="48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20">
            <a:extLst>
              <a:ext uri="{FF2B5EF4-FFF2-40B4-BE49-F238E27FC236}">
                <a16:creationId xmlns:a16="http://schemas.microsoft.com/office/drawing/2014/main" id="{A14F4C2C-7175-9E3C-0259-940A66C2E8AF}"/>
              </a:ext>
            </a:extLst>
          </p:cNvPr>
          <p:cNvSpPr/>
          <p:nvPr/>
        </p:nvSpPr>
        <p:spPr>
          <a:xfrm>
            <a:off x="4292867" y="4600054"/>
            <a:ext cx="7763308" cy="2224964"/>
          </a:xfrm>
          <a:prstGeom prst="roundRect">
            <a:avLst>
              <a:gd name="adj" fmla="val 17481"/>
            </a:avLst>
          </a:prstGeom>
          <a:solidFill>
            <a:schemeClr val="bg1">
              <a:alpha val="82000"/>
            </a:schemeClr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20">
            <a:extLst>
              <a:ext uri="{FF2B5EF4-FFF2-40B4-BE49-F238E27FC236}">
                <a16:creationId xmlns:a16="http://schemas.microsoft.com/office/drawing/2014/main" id="{CC1873AA-F8AA-0079-36D6-9E26916DB3B4}"/>
              </a:ext>
            </a:extLst>
          </p:cNvPr>
          <p:cNvSpPr/>
          <p:nvPr/>
        </p:nvSpPr>
        <p:spPr>
          <a:xfrm>
            <a:off x="2449184" y="32981"/>
            <a:ext cx="1773883" cy="2180881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20">
            <a:extLst>
              <a:ext uri="{FF2B5EF4-FFF2-40B4-BE49-F238E27FC236}">
                <a16:creationId xmlns:a16="http://schemas.microsoft.com/office/drawing/2014/main" id="{E564D8D1-4131-180F-5BFA-50370F19B1C5}"/>
              </a:ext>
            </a:extLst>
          </p:cNvPr>
          <p:cNvSpPr/>
          <p:nvPr/>
        </p:nvSpPr>
        <p:spPr>
          <a:xfrm>
            <a:off x="2449184" y="2294273"/>
            <a:ext cx="1773883" cy="2262862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0">
            <a:extLst>
              <a:ext uri="{FF2B5EF4-FFF2-40B4-BE49-F238E27FC236}">
                <a16:creationId xmlns:a16="http://schemas.microsoft.com/office/drawing/2014/main" id="{F16480AD-D537-3514-0243-21198D6DC9AA}"/>
              </a:ext>
            </a:extLst>
          </p:cNvPr>
          <p:cNvSpPr/>
          <p:nvPr/>
        </p:nvSpPr>
        <p:spPr>
          <a:xfrm>
            <a:off x="2449184" y="4600054"/>
            <a:ext cx="1773883" cy="2224964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7">
            <a:extLst>
              <a:ext uri="{FF2B5EF4-FFF2-40B4-BE49-F238E27FC236}">
                <a16:creationId xmlns:a16="http://schemas.microsoft.com/office/drawing/2014/main" id="{8759B934-1AFB-D86A-5676-A0149ACD271A}"/>
              </a:ext>
            </a:extLst>
          </p:cNvPr>
          <p:cNvSpPr/>
          <p:nvPr/>
        </p:nvSpPr>
        <p:spPr>
          <a:xfrm>
            <a:off x="135826" y="5531842"/>
            <a:ext cx="1603522" cy="1265835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A93C526-9E28-F844-A861-8BBC7E83BDAD}"/>
              </a:ext>
            </a:extLst>
          </p:cNvPr>
          <p:cNvSpPr/>
          <p:nvPr/>
        </p:nvSpPr>
        <p:spPr>
          <a:xfrm>
            <a:off x="135825" y="52735"/>
            <a:ext cx="1603523" cy="4885407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6">
            <a:extLst>
              <a:ext uri="{FF2B5EF4-FFF2-40B4-BE49-F238E27FC236}">
                <a16:creationId xmlns:a16="http://schemas.microsoft.com/office/drawing/2014/main" id="{140D1C93-CA6D-6E6B-3CDB-11CB1FA6066F}"/>
              </a:ext>
            </a:extLst>
          </p:cNvPr>
          <p:cNvSpPr/>
          <p:nvPr/>
        </p:nvSpPr>
        <p:spPr>
          <a:xfrm>
            <a:off x="135825" y="4676775"/>
            <a:ext cx="1360137" cy="1196683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25">
            <a:extLst>
              <a:ext uri="{FF2B5EF4-FFF2-40B4-BE49-F238E27FC236}">
                <a16:creationId xmlns:a16="http://schemas.microsoft.com/office/drawing/2014/main" id="{72E5658D-E9E8-AA20-CEE2-5E63343B1E7C}"/>
              </a:ext>
            </a:extLst>
          </p:cNvPr>
          <p:cNvSpPr/>
          <p:nvPr/>
        </p:nvSpPr>
        <p:spPr>
          <a:xfrm>
            <a:off x="179291" y="4938142"/>
            <a:ext cx="1629857" cy="593700"/>
          </a:xfrm>
          <a:prstGeom prst="roundRect">
            <a:avLst>
              <a:gd name="adj" fmla="val 50000"/>
            </a:avLst>
          </a:prstGeom>
          <a:solidFill>
            <a:srgbClr val="007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10">
            <a:extLst>
              <a:ext uri="{FF2B5EF4-FFF2-40B4-BE49-F238E27FC236}">
                <a16:creationId xmlns:a16="http://schemas.microsoft.com/office/drawing/2014/main" id="{7AB20D99-2481-7572-8146-32506B3E82B1}"/>
              </a:ext>
            </a:extLst>
          </p:cNvPr>
          <p:cNvSpPr txBox="1"/>
          <p:nvPr/>
        </p:nvSpPr>
        <p:spPr>
          <a:xfrm>
            <a:off x="277825" y="4050422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Customer/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Driver Risk</a:t>
            </a:r>
          </a:p>
        </p:txBody>
      </p:sp>
      <p:sp>
        <p:nvSpPr>
          <p:cNvPr id="8" name="CaixaDeTexto 37">
            <a:extLst>
              <a:ext uri="{FF2B5EF4-FFF2-40B4-BE49-F238E27FC236}">
                <a16:creationId xmlns:a16="http://schemas.microsoft.com/office/drawing/2014/main" id="{3D8B0277-AA77-15FB-DB6B-5B1D0863D97D}"/>
              </a:ext>
            </a:extLst>
          </p:cNvPr>
          <p:cNvSpPr txBox="1"/>
          <p:nvPr/>
        </p:nvSpPr>
        <p:spPr>
          <a:xfrm>
            <a:off x="277825" y="3255067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Product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9" name="CaixaDeTexto 31">
            <a:extLst>
              <a:ext uri="{FF2B5EF4-FFF2-40B4-BE49-F238E27FC236}">
                <a16:creationId xmlns:a16="http://schemas.microsoft.com/office/drawing/2014/main" id="{68ED20EF-362F-73CE-BA3E-74750C829611}"/>
              </a:ext>
            </a:extLst>
          </p:cNvPr>
          <p:cNvSpPr txBox="1"/>
          <p:nvPr/>
        </p:nvSpPr>
        <p:spPr>
          <a:xfrm>
            <a:off x="277825" y="2478612"/>
            <a:ext cx="133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Operational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Risk</a:t>
            </a:r>
          </a:p>
        </p:txBody>
      </p:sp>
      <p:sp>
        <p:nvSpPr>
          <p:cNvPr id="10" name="CaixaDeTexto 32">
            <a:extLst>
              <a:ext uri="{FF2B5EF4-FFF2-40B4-BE49-F238E27FC236}">
                <a16:creationId xmlns:a16="http://schemas.microsoft.com/office/drawing/2014/main" id="{FD6F68E4-0BA3-3279-AA02-0E03597B5E9A}"/>
              </a:ext>
            </a:extLst>
          </p:cNvPr>
          <p:cNvSpPr txBox="1"/>
          <p:nvPr/>
        </p:nvSpPr>
        <p:spPr>
          <a:xfrm>
            <a:off x="277825" y="174445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Overview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8167D9-58A7-11E9-FB2B-3F98753673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00823" y="652238"/>
            <a:ext cx="1468726" cy="449547"/>
          </a:xfrm>
          <a:prstGeom prst="rect">
            <a:avLst/>
          </a:prstGeom>
          <a:ln>
            <a:solidFill>
              <a:srgbClr val="001643"/>
            </a:solidFill>
          </a:ln>
        </p:spPr>
      </p:pic>
      <p:sp>
        <p:nvSpPr>
          <p:cNvPr id="12" name="CaixaDeTexto 41">
            <a:extLst>
              <a:ext uri="{FF2B5EF4-FFF2-40B4-BE49-F238E27FC236}">
                <a16:creationId xmlns:a16="http://schemas.microsoft.com/office/drawing/2014/main" id="{732591C8-18BB-5175-9AEA-25B6BBC64022}"/>
              </a:ext>
            </a:extLst>
          </p:cNvPr>
          <p:cNvSpPr txBox="1"/>
          <p:nvPr/>
        </p:nvSpPr>
        <p:spPr>
          <a:xfrm>
            <a:off x="277825" y="4957056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Fraud Risk </a:t>
            </a:r>
          </a:p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968524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6A7C51-DAE0-8A97-A85D-73C4DB21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91197-E2A7-1403-0ED5-7BFD7BA4DC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80354" y="2864717"/>
            <a:ext cx="2787089" cy="475259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Analysed: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8D460E-742E-B9D6-B967-9A3DFDDC5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558440"/>
              </p:ext>
            </p:extLst>
          </p:nvPr>
        </p:nvGraphicFramePr>
        <p:xfrm>
          <a:off x="331496" y="239328"/>
          <a:ext cx="5554092" cy="2391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092">
                  <a:extLst>
                    <a:ext uri="{9D8B030D-6E8A-4147-A177-3AD203B41FA5}">
                      <a16:colId xmlns:a16="http://schemas.microsoft.com/office/drawing/2014/main" val="2348880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Datasets: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138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29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96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171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1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Missing Items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540667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BE9155-8E25-A63D-4624-117E9B015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17619"/>
              </p:ext>
            </p:extLst>
          </p:nvPr>
        </p:nvGraphicFramePr>
        <p:xfrm>
          <a:off x="5885588" y="239328"/>
          <a:ext cx="5554092" cy="239102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554092">
                  <a:extLst>
                    <a:ext uri="{9D8B030D-6E8A-4147-A177-3AD203B41FA5}">
                      <a16:colId xmlns:a16="http://schemas.microsoft.com/office/drawing/2014/main" val="2348880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Descriptions: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138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Delivery transactions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29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characteristics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96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profiles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171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details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1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Reported discrepancies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5406677"/>
                  </a:ext>
                </a:extLst>
              </a:tr>
            </a:tbl>
          </a:graphicData>
        </a:graphic>
      </p:graphicFrame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6CDDCF5-D59A-21C0-9C45-B22713D329F7}"/>
              </a:ext>
            </a:extLst>
          </p:cNvPr>
          <p:cNvSpPr txBox="1">
            <a:spLocks/>
          </p:cNvSpPr>
          <p:nvPr/>
        </p:nvSpPr>
        <p:spPr>
          <a:xfrm>
            <a:off x="3308911" y="3332960"/>
            <a:ext cx="2209573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314 Products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E39C77F-91E7-881A-DAD9-C25BD76B0E07}"/>
              </a:ext>
            </a:extLst>
          </p:cNvPr>
          <p:cNvSpPr txBox="1">
            <a:spLocks/>
          </p:cNvSpPr>
          <p:nvPr/>
        </p:nvSpPr>
        <p:spPr>
          <a:xfrm>
            <a:off x="5573899" y="3332960"/>
            <a:ext cx="2209573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1247 Drivers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E8F175-9889-0A7A-7398-9083E64B2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16" y="3518024"/>
            <a:ext cx="1127138" cy="1127138"/>
          </a:xfrm>
          <a:prstGeom prst="rect">
            <a:avLst/>
          </a:prstGeom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6C9446F1-4088-8D00-AE47-181206B60D3B}"/>
              </a:ext>
            </a:extLst>
          </p:cNvPr>
          <p:cNvSpPr txBox="1">
            <a:spLocks/>
          </p:cNvSpPr>
          <p:nvPr/>
        </p:nvSpPr>
        <p:spPr>
          <a:xfrm>
            <a:off x="1043923" y="3332960"/>
            <a:ext cx="2209573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10000 Orders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BB6C3D3-2FE6-6563-8D5A-C267BA8919E4}"/>
              </a:ext>
            </a:extLst>
          </p:cNvPr>
          <p:cNvSpPr txBox="1">
            <a:spLocks/>
          </p:cNvSpPr>
          <p:nvPr/>
        </p:nvSpPr>
        <p:spPr>
          <a:xfrm>
            <a:off x="7838887" y="3332960"/>
            <a:ext cx="2620566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1239 Customers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AB580CF-C288-6311-5095-ABC3A4C75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97" y="3518023"/>
            <a:ext cx="1127138" cy="112713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34EFA0D-A779-0CA7-0C6C-966F1000F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600" y="3518023"/>
            <a:ext cx="1127139" cy="112713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396A625-50FC-1274-5597-EF50F51E16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485" y="3518023"/>
            <a:ext cx="1127138" cy="112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5DAE0C-FF4D-D80F-F27D-92451E80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2D9F-E4C4-AE07-CADC-9CAF0040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(Supporting Metrics)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19ED58-B3B1-2473-F870-AAEAC83BECCF}"/>
              </a:ext>
            </a:extLst>
          </p:cNvPr>
          <p:cNvSpPr txBox="1">
            <a:spLocks/>
          </p:cNvSpPr>
          <p:nvPr/>
        </p:nvSpPr>
        <p:spPr>
          <a:xfrm>
            <a:off x="1480522" y="996984"/>
            <a:ext cx="3137155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Missing Items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D544FA-7E43-6568-94C2-A9FD65F3BFAD}"/>
              </a:ext>
            </a:extLst>
          </p:cNvPr>
          <p:cNvSpPr txBox="1">
            <a:spLocks/>
          </p:cNvSpPr>
          <p:nvPr/>
        </p:nvSpPr>
        <p:spPr>
          <a:xfrm>
            <a:off x="6240765" y="972105"/>
            <a:ext cx="3137155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Loss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2BAF7E-2234-8E3B-C9CC-C4A9FDBD9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397" y="1439817"/>
            <a:ext cx="1095890" cy="10958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93FACE-B4D4-4980-BD73-F2CD5E6F24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55" y="1439817"/>
            <a:ext cx="1095890" cy="10958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029E01-4473-3100-FAA6-5BF85D232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90" y="2535707"/>
            <a:ext cx="4288086" cy="30349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5AC8ED0-4BB1-AEB5-8FC7-493115EF7F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277" y="2535707"/>
            <a:ext cx="5856133" cy="270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0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5ACA15-338E-AEB7-7C1C-E13C1EA4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D30B-DAD7-F7B3-2298-06FCC119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4DA74C-7FE4-A558-BB78-14D034C934E3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H1 - Missing item and revenue loss rates increase during night deliveries.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AFF5B3-B51A-530A-8984-6A9DBFA57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126553"/>
            <a:ext cx="11725717" cy="283321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FAD5B7-2ACB-24FE-A657-8818B6CDA18E}"/>
              </a:ext>
            </a:extLst>
          </p:cNvPr>
          <p:cNvSpPr txBox="1">
            <a:spLocks/>
          </p:cNvSpPr>
          <p:nvPr/>
        </p:nvSpPr>
        <p:spPr>
          <a:xfrm>
            <a:off x="171450" y="3867765"/>
            <a:ext cx="11166978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 deliveries show higher missing items and revenue loss frequency and dispersion,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indicating greater operational instability and potential fraud exposure.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16.1%	        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15.88%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17.7%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Weighted Revenue Loss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5.67%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1.77%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4009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44A47-3321-552C-6B70-ED8242D7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67280F-3F3C-A5DE-85AA-DA0DD7961C8C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H2 - </a:t>
            </a:r>
            <a:r>
              <a:rPr lang="en-US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 and revenue loss rates increase during seasonal peak periods (e.g., summer and year-end).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BAB522-127B-1D14-ECC1-C31E09500DE2}"/>
              </a:ext>
            </a:extLst>
          </p:cNvPr>
          <p:cNvSpPr txBox="1">
            <a:spLocks/>
          </p:cNvSpPr>
          <p:nvPr/>
        </p:nvSpPr>
        <p:spPr>
          <a:xfrm>
            <a:off x="85726" y="3815542"/>
            <a:ext cx="11166978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peak periods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significantly increase operational or financial risk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16.99%		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March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19.76%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18.43%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Highest Weighted Revenue Loss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March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6.95%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August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1.86%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DDA74-81A3-275D-7E72-580BA15E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6" y="734682"/>
            <a:ext cx="11887198" cy="308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8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17A32E-5B27-5A93-01A5-9C5906EA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1992A8-DBD0-6F76-1943-36D2A26F5CFC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H3 - Missing item and revenue loss rates are higher on weekends.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A2D55-D71B-FA7A-0347-18EA7B8D6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90" y="562482"/>
            <a:ext cx="9886949" cy="286651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1B3927A-339F-6B91-D101-36DE04485F8C}"/>
              </a:ext>
            </a:extLst>
          </p:cNvPr>
          <p:cNvSpPr txBox="1">
            <a:spLocks/>
          </p:cNvSpPr>
          <p:nvPr/>
        </p:nvSpPr>
        <p:spPr>
          <a:xfrm>
            <a:off x="104776" y="3605992"/>
            <a:ext cx="11166978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risk appears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concentrated at the beginning of the week rather than during weekends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although Saturday still represents a relevant risk window.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16.08%	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19.96%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17.83%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Highest Weighted Revenue Loss Rate: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7.08%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1.82%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39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2A7F0D-0BE2-CAC2-ED57-79BE4E69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BEDD-1947-2B69-4517-5923C40D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83D1F4-AB9D-A179-A2BA-4513B049906B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H4 - Missing item rates differ across regions</a:t>
            </a:r>
            <a:r>
              <a:rPr lang="en-US" sz="24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55E9760-F486-7041-0509-1970C2626AD0}"/>
              </a:ext>
            </a:extLst>
          </p:cNvPr>
          <p:cNvSpPr txBox="1">
            <a:spLocks/>
          </p:cNvSpPr>
          <p:nvPr/>
        </p:nvSpPr>
        <p:spPr>
          <a:xfrm>
            <a:off x="7239000" y="1158098"/>
            <a:ext cx="4772025" cy="17566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partially supported (Weak-to-Moderate Evidence).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variation exists, but differences are moderate (range: 1.53% – 1.79%).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region shows extreme or abnormal behaviour.</a:t>
            </a:r>
            <a:endParaRPr lang="en-I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02B5F-A249-23E0-C7E0-0862E0184A57}"/>
              </a:ext>
            </a:extLst>
          </p:cNvPr>
          <p:cNvSpPr txBox="1"/>
          <p:nvPr/>
        </p:nvSpPr>
        <p:spPr>
          <a:xfrm>
            <a:off x="7239000" y="2724265"/>
            <a:ext cx="3867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Risk Region: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Altamonte Springs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16.20%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17.74%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1.79%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7F707-A394-815A-7DDD-64DD240CFFC6}"/>
              </a:ext>
            </a:extLst>
          </p:cNvPr>
          <p:cNvSpPr txBox="1"/>
          <p:nvPr/>
        </p:nvSpPr>
        <p:spPr>
          <a:xfrm>
            <a:off x="7239000" y="4050048"/>
            <a:ext cx="3867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Risk Region: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Kissimmee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14.36%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15.41%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1.52%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DD9B48-B6E3-A26C-7B27-3F1669A15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32" y="1158098"/>
            <a:ext cx="6944168" cy="455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1B6420-0BE2-EEBE-A847-693ED85AA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BE8971-A298-8F95-BAD2-C08B6C7280B8}"/>
              </a:ext>
            </a:extLst>
          </p:cNvPr>
          <p:cNvSpPr txBox="1">
            <a:spLocks/>
          </p:cNvSpPr>
          <p:nvPr/>
        </p:nvSpPr>
        <p:spPr>
          <a:xfrm>
            <a:off x="245991" y="234217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H5 - The average monetary loss per missing item varies by region.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2361B41-8651-26C0-F8FE-037F78E0F708}"/>
              </a:ext>
            </a:extLst>
          </p:cNvPr>
          <p:cNvSpPr txBox="1">
            <a:spLocks/>
          </p:cNvSpPr>
          <p:nvPr/>
        </p:nvSpPr>
        <p:spPr>
          <a:xfrm>
            <a:off x="7629869" y="800829"/>
            <a:ext cx="4316140" cy="1942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supported.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per missing item varies significantly by region.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Orlando shows the highest financial impact about 55% higher than Sanford, indicating a higher concentration of high-value missing products.</a:t>
            </a:r>
          </a:p>
          <a:p>
            <a:pPr marL="0" indent="0">
              <a:buNone/>
            </a:pP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34CD2-F51D-770A-9418-5B6558C9B1DA}"/>
              </a:ext>
            </a:extLst>
          </p:cNvPr>
          <p:cNvSpPr txBox="1"/>
          <p:nvPr/>
        </p:nvSpPr>
        <p:spPr>
          <a:xfrm>
            <a:off x="7629869" y="3001634"/>
            <a:ext cx="3867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Risk Region: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Orlando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19.49%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Revenue Loss Rate: </a:t>
            </a:r>
            <a:r>
              <a:rPr lang="en-IE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.89%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6E036-BF20-7A52-DECD-5DC9913CD6FA}"/>
              </a:ext>
            </a:extLst>
          </p:cNvPr>
          <p:cNvSpPr txBox="1"/>
          <p:nvPr/>
        </p:nvSpPr>
        <p:spPr>
          <a:xfrm>
            <a:off x="7629869" y="4030998"/>
            <a:ext cx="3867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Risk Region: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Sanford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12.56%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</a:t>
            </a: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Rate: </a:t>
            </a:r>
            <a:r>
              <a:rPr lang="en-IE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.36%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7F9C70-9A8B-7940-19F1-A524DC5F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19" y="609600"/>
            <a:ext cx="7400750" cy="50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4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E7956A-8938-5E09-5511-40D926E0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2631-6EC3-2FCE-9C0E-372B2D324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6BD08-7FE0-BEFB-A3F6-B22D8B77C998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H6 - Electronics generate disproportionate revenue loss and missing item rate.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0C5EF95-E6FF-CED5-49A0-659CCD26C4FC}"/>
              </a:ext>
            </a:extLst>
          </p:cNvPr>
          <p:cNvSpPr txBox="1">
            <a:spLocks/>
          </p:cNvSpPr>
          <p:nvPr/>
        </p:nvSpPr>
        <p:spPr>
          <a:xfrm>
            <a:off x="171450" y="3775058"/>
            <a:ext cx="11725718" cy="92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partially supported (supported for Revenue Loss, not supported for Missing Items).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issues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concentrated in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items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represent the largest financial risk per incident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C574D-4339-60F1-464A-A5F63AE83FED}"/>
              </a:ext>
            </a:extLst>
          </p:cNvPr>
          <p:cNvSpPr txBox="1"/>
          <p:nvPr/>
        </p:nvSpPr>
        <p:spPr>
          <a:xfrm>
            <a:off x="4743450" y="4496768"/>
            <a:ext cx="66389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electronics generate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~5× higher total revenue loss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Revenue Loss average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$496.53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revenue loss average is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$20.35.</a:t>
            </a:r>
            <a:endParaRPr lang="en-I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missing events are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24x more financially                severe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implication.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C4A9C-E969-35FB-1C4E-3D0720B26847}"/>
              </a:ext>
            </a:extLst>
          </p:cNvPr>
          <p:cNvSpPr txBox="1"/>
          <p:nvPr/>
        </p:nvSpPr>
        <p:spPr>
          <a:xfrm>
            <a:off x="171450" y="449676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items account for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83.8% of missing items.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represent only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16.2% of missing items incidents.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F5D8B2-911A-53FE-75C8-2F705F7F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1" y="1057656"/>
            <a:ext cx="11725718" cy="256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1F7B4E-2EC6-D52E-D923-9BCE2618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FCF41F-A6A3-46B9-A9E2-F6EDE3CFC11D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H7 - Missing item frequency and revenue loss are inversely related to product price.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E700BBE-82AE-A90A-A4CF-1A3D54652D23}"/>
              </a:ext>
            </a:extLst>
          </p:cNvPr>
          <p:cNvSpPr txBox="1">
            <a:spLocks/>
          </p:cNvSpPr>
          <p:nvPr/>
        </p:nvSpPr>
        <p:spPr>
          <a:xfrm>
            <a:off x="1251171" y="3429000"/>
            <a:ext cx="11062203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partially supported (not supported for Revenue Loss, supported for Missing Items).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Low-price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products drive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volume risk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high-price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products drive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risk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share rate occurs in low price ($10–25) products (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of missing items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low-price products ($0–10) also show elevated missing items share rates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(34% of missing items)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products generate the largest revenue loss with revenue loss average of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$584.01,                           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followed by very high products with revenue loss average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$213.98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price products generate the highest total loss due to order volume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$20,454,5600</a:t>
            </a:r>
          </a:p>
          <a:p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items create higher financial exposure per incident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0B159-434B-B09F-2813-85BB49E8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562208"/>
            <a:ext cx="11753847" cy="277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2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F2E098-9E2B-E163-14A1-6E38F9CB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4AF070-3809-5F27-F46D-20D91CFBFA3E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H8 - Watches and beverages are more frequently reported missing. </a:t>
            </a:r>
          </a:p>
          <a:p>
            <a:pPr marL="0" indent="0"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729042-1B69-4AF1-FC5E-5FF36E9E153C}"/>
              </a:ext>
            </a:extLst>
          </p:cNvPr>
          <p:cNvSpPr txBox="1">
            <a:spLocks/>
          </p:cNvSpPr>
          <p:nvPr/>
        </p:nvSpPr>
        <p:spPr>
          <a:xfrm>
            <a:off x="7658100" y="685232"/>
            <a:ext cx="4314824" cy="4966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 patterns appear to be driven more by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high-demand products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rather than specific product types such as watches or beverages.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missing items are mainly: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Earbuds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accessories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electronics devices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missing items are mainly: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Meat and protein products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Dairy items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Pantry staples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943921-8AEE-49A2-98C3-16A2F3050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06397"/>
              </p:ext>
            </p:extLst>
          </p:nvPr>
        </p:nvGraphicFramePr>
        <p:xfrm>
          <a:off x="2424301" y="1082200"/>
          <a:ext cx="1265654" cy="407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5654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F6E1D56-E9FA-BFF7-D063-275042252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105309"/>
              </p:ext>
            </p:extLst>
          </p:nvPr>
        </p:nvGraphicFramePr>
        <p:xfrm>
          <a:off x="148619" y="1082200"/>
          <a:ext cx="226377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775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Bose QuietComfort Earbuds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Logitech Mouse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Dell XPS 13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Beats Studio Pro Headphone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Nest Thermostat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Dyson V11 Vacuum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JBL Flip Speaker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HP Envy Printer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Roku Ultra Streaming Device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Panasonic Lumix Camera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22F0636-4C82-2E2C-2E75-66C9F35D7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292244"/>
              </p:ext>
            </p:extLst>
          </p:nvPr>
        </p:nvGraphicFramePr>
        <p:xfrm>
          <a:off x="3832225" y="1082200"/>
          <a:ext cx="233362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625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Chicken Breast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Ground Coffee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Cheddar Cheese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Frozen Shrimp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Uncured Bacon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Peanut Butter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Canned Tuna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Rice Cakes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Turkey Burgers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Broccoli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3F77C1A-CE99-6A38-D2FF-A1327AE20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112892"/>
              </p:ext>
            </p:extLst>
          </p:nvPr>
        </p:nvGraphicFramePr>
        <p:xfrm>
          <a:off x="6165850" y="1082200"/>
          <a:ext cx="1397000" cy="407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728978D-2E53-B980-9E57-0F8DEC10EA9C}"/>
              </a:ext>
            </a:extLst>
          </p:cNvPr>
          <p:cNvSpPr txBox="1">
            <a:spLocks/>
          </p:cNvSpPr>
          <p:nvPr/>
        </p:nvSpPr>
        <p:spPr>
          <a:xfrm>
            <a:off x="148619" y="685232"/>
            <a:ext cx="3541336" cy="446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Missing by Electronics Products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97BAC30-D643-4163-BBB8-8325111DF911}"/>
              </a:ext>
            </a:extLst>
          </p:cNvPr>
          <p:cNvSpPr txBox="1">
            <a:spLocks/>
          </p:cNvSpPr>
          <p:nvPr/>
        </p:nvSpPr>
        <p:spPr>
          <a:xfrm>
            <a:off x="3832225" y="685232"/>
            <a:ext cx="3730625" cy="446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Missing by Supermarket Products</a:t>
            </a:r>
          </a:p>
        </p:txBody>
      </p:sp>
    </p:spTree>
    <p:extLst>
      <p:ext uri="{BB962C8B-B14F-4D97-AF65-F5344CB8AC3E}">
        <p14:creationId xmlns:p14="http://schemas.microsoft.com/office/powerpoint/2010/main" val="253202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962B39-5CF2-36CD-1A9D-AD061B27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BD1A-D9BF-0105-F401-53368A1B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6E32CC-AFE4-044B-FDCF-25F7BBB1688E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H9 - Missing item and revenue loss rates differ across customer age groups.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41375D-F69C-9A2F-4C30-2DD6A06ED8E7}"/>
              </a:ext>
            </a:extLst>
          </p:cNvPr>
          <p:cNvSpPr txBox="1">
            <a:spLocks/>
          </p:cNvSpPr>
          <p:nvPr/>
        </p:nvSpPr>
        <p:spPr>
          <a:xfrm>
            <a:off x="171450" y="3775058"/>
            <a:ext cx="11725718" cy="92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weakly/partially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age segments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the financial consequences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missing items, however, it has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minimal impact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missing items rate,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suggesting that operational issues are evenly distributed across customer segments.</a:t>
            </a:r>
            <a:endParaRPr lang="en-I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F34BA-5665-243D-94C5-55A72A3A05AB}"/>
              </a:ext>
            </a:extLst>
          </p:cNvPr>
          <p:cNvSpPr txBox="1"/>
          <p:nvPr/>
        </p:nvSpPr>
        <p:spPr>
          <a:xfrm>
            <a:off x="5289784" y="46983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 show the highest </a:t>
            </a: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rate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(6.56%)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Middle-aged customers show the lowest loss                     rate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(4.70%)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Seniors generate the highest total loss                                   due to order volume                                                                     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$ 59,475,2200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442F8-B8BD-FB14-B702-31FF417C7236}"/>
              </a:ext>
            </a:extLst>
          </p:cNvPr>
          <p:cNvSpPr txBox="1"/>
          <p:nvPr/>
        </p:nvSpPr>
        <p:spPr>
          <a:xfrm>
            <a:off x="1994" y="4722965"/>
            <a:ext cx="5287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issing items rates range from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1.59% to 1.73%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 show the highest 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Middle-aged customers show the lowest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D3DB7-C52F-F313-0819-0FFE03D2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1" y="1080455"/>
            <a:ext cx="11725717" cy="2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6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CE8EBF-7819-F1DD-8280-F7B1A7CD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FCDA-3E18-F981-B73A-FD09B6B1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DD01E2-A9E6-6CF4-E021-365E6C6139E0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H10 - Drivers with multiple IDs show higher missing item and revenue loss rates.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887DEE-0204-A6BA-3FA2-8C86F63EC46E}"/>
              </a:ext>
            </a:extLst>
          </p:cNvPr>
          <p:cNvSpPr txBox="1">
            <a:spLocks/>
          </p:cNvSpPr>
          <p:nvPr/>
        </p:nvSpPr>
        <p:spPr>
          <a:xfrm>
            <a:off x="5286506" y="1263045"/>
            <a:ext cx="6734044" cy="1205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supported (but with limited evidence.).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 associated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IDs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exhibit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missing item rates and higher revenue loss rates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to drivers operating under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BA15C-7C5A-0705-D71C-1D74F0D331FB}"/>
              </a:ext>
            </a:extLst>
          </p:cNvPr>
          <p:cNvSpPr txBox="1"/>
          <p:nvPr/>
        </p:nvSpPr>
        <p:spPr>
          <a:xfrm>
            <a:off x="5286505" y="2625625"/>
            <a:ext cx="64739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 rate is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76% higher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among multi-ID drivers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 Rate: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26.32% vs 14.93%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 rate is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49% higher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among multi-ID drivers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 Rate: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7.82% vs 5.25%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potential operational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6F975-207C-ED64-30DC-1DC81D631A00}"/>
              </a:ext>
            </a:extLst>
          </p:cNvPr>
          <p:cNvSpPr txBox="1"/>
          <p:nvPr/>
        </p:nvSpPr>
        <p:spPr>
          <a:xfrm>
            <a:off x="5286505" y="4259416"/>
            <a:ext cx="48105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Multi-ID group represents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small sample size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9924 vs 76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statistical reliability of the comparison is 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 investigation with a larger     sample is necessary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C93CA-9711-E930-AF1E-EB43E627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09" y="1158098"/>
            <a:ext cx="4810568" cy="462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0AD3-CD76-4DC1-7B86-5BBA6F70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559685-A076-CBD9-A522-028DA2730D43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H11 - Missing item and revenue loss rates differ across driver age groups.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FB9B0-8F7C-D968-2080-D5582799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556996"/>
            <a:ext cx="11753847" cy="287200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F6E1AE-CDA8-B025-EECE-3B3882A38115}"/>
              </a:ext>
            </a:extLst>
          </p:cNvPr>
          <p:cNvSpPr txBox="1">
            <a:spLocks/>
          </p:cNvSpPr>
          <p:nvPr/>
        </p:nvSpPr>
        <p:spPr>
          <a:xfrm>
            <a:off x="171450" y="3775058"/>
            <a:ext cx="11725718" cy="92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 age may influence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rates slightly, but differences remain relatively small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however,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rates show stronger variation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groups,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potentially reflecting differences in workload, route complexity, or operational behavior.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A9A1D-51B6-9188-A432-E6B83594D903}"/>
              </a:ext>
            </a:extLst>
          </p:cNvPr>
          <p:cNvSpPr txBox="1"/>
          <p:nvPr/>
        </p:nvSpPr>
        <p:spPr>
          <a:xfrm>
            <a:off x="5190196" y="473201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revenue loss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rates range from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8.24% to 3.35%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 show the highest</a:t>
            </a: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Younger drivers show the lowest 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E4798-36C1-612E-C29B-AD00F2DF6A93}"/>
              </a:ext>
            </a:extLst>
          </p:cNvPr>
          <p:cNvSpPr txBox="1"/>
          <p:nvPr/>
        </p:nvSpPr>
        <p:spPr>
          <a:xfrm>
            <a:off x="0" y="4732018"/>
            <a:ext cx="5287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issing items rates range from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1.88% to 1.49%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 show the highest 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Younger drivers show the lowest rate</a:t>
            </a:r>
          </a:p>
        </p:txBody>
      </p:sp>
    </p:spTree>
    <p:extLst>
      <p:ext uri="{BB962C8B-B14F-4D97-AF65-F5344CB8AC3E}">
        <p14:creationId xmlns:p14="http://schemas.microsoft.com/office/powerpoint/2010/main" val="2903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A2236B-1997-A602-32FE-9FE82AED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C79063-9765-E583-E609-4F8769E98C5B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H12 - Missing item and revenue loss rates increase with driver trip volume.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40E6A-6025-4754-400E-9BDAF1B7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615778"/>
            <a:ext cx="11753848" cy="29124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240526-AD8D-8494-A67F-C4FAF59D00BE}"/>
              </a:ext>
            </a:extLst>
          </p:cNvPr>
          <p:cNvSpPr txBox="1">
            <a:spLocks/>
          </p:cNvSpPr>
          <p:nvPr/>
        </p:nvSpPr>
        <p:spPr>
          <a:xfrm>
            <a:off x="406003" y="3528262"/>
            <a:ext cx="10029447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Medium-volume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drivers show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 rates, while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high-volume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drivers show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lowest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suggesting experience effect,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active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 develop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familiarity that reduces fulfilment errors.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weighted missing items rate occurs in medium (25-41) trips (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1.89%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revenue loss rate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decreases as trip volume increases (Low 5.82% - Very High 4.53%)</a:t>
            </a:r>
          </a:p>
          <a:p>
            <a:pPr marL="0" indent="0">
              <a:buNone/>
            </a:pP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D4DA22-A08D-F1D1-AD89-09342F4A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4A39A-B1E1-2019-FB35-A9301EC1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61459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Analysis (Operational Monitoring)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95E53-B317-5702-9597-6F6557355B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1992" y="1203637"/>
            <a:ext cx="10786610" cy="4400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analysis highlights the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15 customers and drivers with highest number of:</a:t>
            </a: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reported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generated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not used for hypothesis validation, this analysis supports:</a:t>
            </a: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alert identification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monitoring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 prioritization</a:t>
            </a: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83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D0EDEE-01F8-21B8-45ED-1582E955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465076-E980-44C3-A8C1-248C878A6E62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1182349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15 Customers with highest number of items missing reported and revenue loss generated.</a:t>
            </a:r>
          </a:p>
          <a:p>
            <a:pPr marL="0" indent="0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887C67-3729-FCDE-DCB1-C853EAC37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714709"/>
              </p:ext>
            </p:extLst>
          </p:nvPr>
        </p:nvGraphicFramePr>
        <p:xfrm>
          <a:off x="104775" y="544958"/>
          <a:ext cx="5306655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331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5649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Items by Customers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Customers</a:t>
                      </a:r>
                    </a:p>
                    <a:p>
                      <a:pPr algn="l"/>
                      <a:endParaRPr lang="en-IE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Edward Henry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101.18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Shelley Gould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1467.61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Douglas Roth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88.16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David Mccoy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1520.85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WCID5593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Victor Gonzalez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250.13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Timothy Daniel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245.49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WCID5339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Jerry Mullen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55.43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WCID6164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Karen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64.43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391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Raymond Chavez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49.63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WCID6096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Holly Stewart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38.76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James Hopkins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830.19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WCID5817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Angela Bradley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72.53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Carla Knox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689.41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391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WCID5594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Odonnell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42.75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WCID5511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David Hicks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245.75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599CCB-7682-9B9C-030D-38DC34FC3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635597"/>
              </p:ext>
            </p:extLst>
          </p:nvPr>
        </p:nvGraphicFramePr>
        <p:xfrm>
          <a:off x="5525730" y="544958"/>
          <a:ext cx="5306655" cy="45872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61331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618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Items by Customers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Customers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Kenneth Brown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1657.5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Angela Brock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1594.95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Keith Jones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1571.26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Stephen Cook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1546.24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David Mccoy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1520.85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Shelley Gould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1467.61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362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Matthew Roberts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1305.11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John Scott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1276.4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WCID6128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Wilson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1189.16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William Owens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1122.08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WCID5733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Joseph Perry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1093.01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362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Mr. Gregory Luna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1088.32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Sanchez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1058.11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362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Thomas Wallace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979.65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Lisa Martinez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923.67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B7CD7E-23C0-CCF2-5ADC-4F345A0E3298}"/>
              </a:ext>
            </a:extLst>
          </p:cNvPr>
          <p:cNvSpPr txBox="1">
            <a:spLocks/>
          </p:cNvSpPr>
          <p:nvPr/>
        </p:nvSpPr>
        <p:spPr>
          <a:xfrm>
            <a:off x="104776" y="5199306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# of Missing Items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DFC2E3-5BA0-32AD-1C17-DFEAA9D10B23}"/>
              </a:ext>
            </a:extLst>
          </p:cNvPr>
          <p:cNvSpPr txBox="1">
            <a:spLocks/>
          </p:cNvSpPr>
          <p:nvPr/>
        </p:nvSpPr>
        <p:spPr>
          <a:xfrm>
            <a:off x="5525730" y="5225781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Revenue Loss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80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68CD3D-B4F2-E30A-030D-6A07F43C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CC6C45-C79E-0BB4-AA3D-73C26ECE212A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1182349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15 Drivers with highest number of items missing reported and revenue loss generated.</a:t>
            </a:r>
          </a:p>
          <a:p>
            <a:pPr marL="0" indent="0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CFA97D-53A1-1623-44DF-AEC91DD18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60775"/>
              </p:ext>
            </p:extLst>
          </p:nvPr>
        </p:nvGraphicFramePr>
        <p:xfrm>
          <a:off x="104775" y="544963"/>
          <a:ext cx="5306658" cy="4604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443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2657944701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760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Trips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Items by Drivers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Drivers</a:t>
                      </a:r>
                    </a:p>
                    <a:p>
                      <a:pPr algn="l"/>
                      <a:endParaRPr lang="en-IE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Angela Young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1084.34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Charles Rios DVM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570.28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James Winters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372.38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James White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Roger Green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482.64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Shane Palmer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600.96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Brittany Gordon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797.26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Jordan Daniel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Stephen Randolph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884.81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Billy Lawson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1310.38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Pamela Moore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58.03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Tracey Watkins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759.78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Justin Parsons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60.18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Cynthia Owens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916.8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Mrs. Valerie Schwartz MD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371.49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628F4-8578-BAAF-E821-C20DF6D2C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311161"/>
              </p:ext>
            </p:extLst>
          </p:nvPr>
        </p:nvGraphicFramePr>
        <p:xfrm>
          <a:off x="5525730" y="544960"/>
          <a:ext cx="5306658" cy="459887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84443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2240499625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4491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Trips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by Drivers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Drivers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Marc Waters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2044.08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Paul Leach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2034.34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Scott Carter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1889.86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Patrick Hall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1869.39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WDID10387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Dalton Rogers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1731.45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Patricia Vance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1683.03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Kelsey Mitchell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1681.77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Heather King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1651.38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2390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Alison Knight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1578.61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Joan Melton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1486.8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WDID10726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Lindsey Johnson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1423.54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WDID10734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Michael Zimmerman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1374.31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Leslie Powell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1363.22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Wright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1347.02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WDID10641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Chelsey Willis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1344.99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6BB305-DBB4-25B9-613A-6D5A5EEC6D5C}"/>
              </a:ext>
            </a:extLst>
          </p:cNvPr>
          <p:cNvSpPr txBox="1">
            <a:spLocks/>
          </p:cNvSpPr>
          <p:nvPr/>
        </p:nvSpPr>
        <p:spPr>
          <a:xfrm>
            <a:off x="104775" y="5153576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# of Missing Items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91A4DB-25C5-31DA-5979-C4300F06DB20}"/>
              </a:ext>
            </a:extLst>
          </p:cNvPr>
          <p:cNvSpPr txBox="1">
            <a:spLocks/>
          </p:cNvSpPr>
          <p:nvPr/>
        </p:nvSpPr>
        <p:spPr>
          <a:xfrm>
            <a:off x="5525730" y="5153576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Revenue Loss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46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A64B9C-3A0F-7479-CA4F-FA3E93F4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6ECD-9135-8BAB-6865-DE8A0790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Analytical Narrative (H1-H12)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E704-3E8F-BEE6-C710-60BFBF7445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8618" y="836500"/>
            <a:ext cx="11933382" cy="776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whether missing items are driven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operations, behavior, or fraud patterns.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DCE12-8D73-EE06-EE82-E4C470148A22}"/>
              </a:ext>
            </a:extLst>
          </p:cNvPr>
          <p:cNvSpPr txBox="1"/>
          <p:nvPr/>
        </p:nvSpPr>
        <p:spPr>
          <a:xfrm>
            <a:off x="1510192" y="1613307"/>
            <a:ext cx="408704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Patterns</a:t>
            </a:r>
          </a:p>
          <a:p>
            <a:pPr marL="0" indent="0">
              <a:buNone/>
            </a:pP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clear operational risk pattern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Missing items are not driven by time, seasonality, or region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 and early week show slightly higher incidence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Indicates possible operational variability, not structural risk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frequency impact is limited but financial impact </a:t>
            </a:r>
            <a:r>
              <a:rPr lang="en-I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varies significantly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Orlando shows higher financial impact, but no strong geographic concentration concerning number of items missing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appear to be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noise rather than systematic risk patterns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83AEA-FBA2-8EEF-3649-1074674A254E}"/>
              </a:ext>
            </a:extLst>
          </p:cNvPr>
          <p:cNvSpPr txBox="1"/>
          <p:nvPr/>
        </p:nvSpPr>
        <p:spPr>
          <a:xfrm>
            <a:off x="6594764" y="1613307"/>
            <a:ext cx="4087045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Product-Level Risk</a:t>
            </a:r>
          </a:p>
          <a:p>
            <a:pPr marL="0" indent="0">
              <a:buNone/>
            </a:pP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are concentrated in high-volume categories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Supermarket products account for 80%+ of incidents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driven by high-value items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Electronics have lower frequency but higher revenue loss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drivers for frequency vs. impact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Low-price items → more frequent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High-price items → higher financial exposure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are driven by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volume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financial risk is driven by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value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9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80AE60-59C7-8BA9-C44A-E28FE7F8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BDD2E58-3896-0E20-3E1E-A34BB31BEF8B}"/>
              </a:ext>
            </a:extLst>
          </p:cNvPr>
          <p:cNvSpPr txBox="1"/>
          <p:nvPr/>
        </p:nvSpPr>
        <p:spPr>
          <a:xfrm>
            <a:off x="168445" y="105013"/>
            <a:ext cx="54265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behavior</a:t>
            </a:r>
          </a:p>
          <a:p>
            <a:pPr marL="0" indent="0">
              <a:buNone/>
            </a:pP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strong demographic pattern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Missing item rates are consistent across age groups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financial impact among adults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Likely driven by larger baskets or higher-value purchases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influence on missing item occurrence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Issues affect customers broadly, not specific segments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 is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 primary driver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missing item incidents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67BAC0-FFE0-732A-5A73-8FF156133D67}"/>
              </a:ext>
            </a:extLst>
          </p:cNvPr>
          <p:cNvSpPr txBox="1"/>
          <p:nvPr/>
        </p:nvSpPr>
        <p:spPr>
          <a:xfrm>
            <a:off x="5595042" y="105013"/>
            <a:ext cx="64285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Behavior and Operational Execution</a:t>
            </a:r>
          </a:p>
          <a:p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risk linked to multi-ID drivers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Associated with higher missing rates and revenue loss (interpret with caution)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variation across driver age groups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Adult and senior drivers show slightly higher incidence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Younger drivers show lower rates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reduces operational risk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High-volume drivers have fewer missing items and lower losses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improves performance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while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multi-ID use signals risk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69119A-B2CA-1E27-94F2-8A7BAAB436F5}"/>
              </a:ext>
            </a:extLst>
          </p:cNvPr>
          <p:cNvSpPr txBox="1"/>
          <p:nvPr/>
        </p:nvSpPr>
        <p:spPr>
          <a:xfrm>
            <a:off x="416459" y="3244334"/>
            <a:ext cx="10741936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Interpretation</a:t>
            </a:r>
          </a:p>
          <a:p>
            <a:pPr algn="ctr"/>
            <a:endParaRPr lang="en-IE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are primarily operational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No strong evidence of systematic fraud patterns</a:t>
            </a:r>
          </a:p>
          <a:p>
            <a:pPr algn="ctr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Incidents driven by high-volume operations (low-value items)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Concentrated in frequent, routine processes</a:t>
            </a:r>
          </a:p>
          <a:p>
            <a:pPr algn="ctr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driven by high-value products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Low frequency, but high exposure (e.g., electronics)</a:t>
            </a:r>
          </a:p>
          <a:p>
            <a:pPr algn="ctr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reflect a mix of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inefficiencies (volume-driven)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                                                                                                              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exposure (value-driven)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6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8E2C4A-5ADE-EC2F-AC43-58EE5ADA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A0CA-EAC6-A715-7BDB-3B56D02C4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Key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35044-B0FF-499F-C349-83F15CE12AD8}"/>
              </a:ext>
            </a:extLst>
          </p:cNvPr>
          <p:cNvSpPr txBox="1"/>
          <p:nvPr/>
        </p:nvSpPr>
        <p:spPr>
          <a:xfrm>
            <a:off x="258618" y="1136210"/>
            <a:ext cx="40870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Operational Volume Drives Incidents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price supermarket items dominate missing cases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 volume → more operational errors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A7C9F-E3E9-0219-6C54-4C1ECE882689}"/>
              </a:ext>
            </a:extLst>
          </p:cNvPr>
          <p:cNvSpPr txBox="1"/>
          <p:nvPr/>
        </p:nvSpPr>
        <p:spPr>
          <a:xfrm>
            <a:off x="258617" y="3739046"/>
            <a:ext cx="40870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Electronics Drive Financial Risk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Fewer incidents, but highest revenue loss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Higher value → higher revenue loss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BB697-C6D7-0367-6BE6-73887A45B291}"/>
              </a:ext>
            </a:extLst>
          </p:cNvPr>
          <p:cNvSpPr txBox="1"/>
          <p:nvPr/>
        </p:nvSpPr>
        <p:spPr>
          <a:xfrm>
            <a:off x="5344104" y="1136210"/>
            <a:ext cx="40870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Outweighs Incident Frequency Across Regions and Customers</a:t>
            </a:r>
            <a:endParaRPr lang="en-IE" sz="20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frequency impact is limited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Missing items not concentrated in specific locations or customer segments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varies significantly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Orlando (region) and adults (customer) generate higher revenue loss per incident</a:t>
            </a:r>
          </a:p>
        </p:txBody>
      </p:sp>
    </p:spTree>
    <p:extLst>
      <p:ext uri="{BB962C8B-B14F-4D97-AF65-F5344CB8AC3E}">
        <p14:creationId xmlns:p14="http://schemas.microsoft.com/office/powerpoint/2010/main" val="223266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9EBC27-7110-8979-35B5-7A4D90FD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05B5DFB-83BC-D91D-195F-7D9F1ECA788A}"/>
              </a:ext>
            </a:extLst>
          </p:cNvPr>
          <p:cNvSpPr txBox="1"/>
          <p:nvPr/>
        </p:nvSpPr>
        <p:spPr>
          <a:xfrm>
            <a:off x="267671" y="439093"/>
            <a:ext cx="40870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Driver Experience Improve Operational Performance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Drivers with higher trip volume → fewer errors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 experience → more delivery accuracy and efficiency → fewer missing items and revenue loss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C1782-7BD3-AD93-40F8-81B0854416A7}"/>
              </a:ext>
            </a:extLst>
          </p:cNvPr>
          <p:cNvSpPr txBox="1"/>
          <p:nvPr/>
        </p:nvSpPr>
        <p:spPr>
          <a:xfrm>
            <a:off x="4052477" y="2941032"/>
            <a:ext cx="408704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Multiple Driver IDs = Risk Signal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missing rates and revenue loss observed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sample size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although the sample size remains small, the pattern may indicate potential operational irregularities or identity management issues within the driver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0AD07-3AA1-163C-93A0-D574EF8F655D}"/>
              </a:ext>
            </a:extLst>
          </p:cNvPr>
          <p:cNvSpPr txBox="1"/>
          <p:nvPr/>
        </p:nvSpPr>
        <p:spPr>
          <a:xfrm>
            <a:off x="8339106" y="439093"/>
            <a:ext cx="358522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Operational Time Windows Show Higher Risk Variability</a:t>
            </a:r>
            <a:endParaRPr lang="en-US" sz="20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risk in mornings /early week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Possible factors are higher operational workload, shift transitions, or inventory replenishment cycles</a:t>
            </a:r>
          </a:p>
        </p:txBody>
      </p:sp>
    </p:spTree>
    <p:extLst>
      <p:ext uri="{BB962C8B-B14F-4D97-AF65-F5344CB8AC3E}">
        <p14:creationId xmlns:p14="http://schemas.microsoft.com/office/powerpoint/2010/main" val="364082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C58B1F-D7A3-F91A-B29D-4B325E3C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C3C0-D89B-EBA0-3E02-892D187B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2242990"/>
            <a:ext cx="9288489" cy="1186010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4.Fraud Risk Score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5B82D-023B-2F7B-E624-B68856778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929" y="3567072"/>
            <a:ext cx="10477962" cy="329092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framework is divided into three parts.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Framework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Critical Segments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Fraud Risk Score Key Business Findings </a:t>
            </a:r>
            <a:endParaRPr lang="en-US" dirty="0"/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6281E-13E2-0318-9815-28388B9B4E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167612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1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A5BCA6-5B71-8ADE-8A36-D233AAA7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BF1B-D867-F9D9-BCE8-B4D7FE999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Framework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FBA3-1585-28D3-9AFB-CF08A13F0D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8618" y="990407"/>
            <a:ext cx="11257390" cy="856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Fraud Risk Score will combine key risk indicators to assess order risk, enabling proactive monitoring and investigation prioritization.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7DB73-BCDA-4A0F-7343-33E0510B92FF}"/>
              </a:ext>
            </a:extLst>
          </p:cNvPr>
          <p:cNvSpPr txBox="1"/>
          <p:nvPr/>
        </p:nvSpPr>
        <p:spPr>
          <a:xfrm>
            <a:off x="258618" y="1846907"/>
            <a:ext cx="48656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IE" b="1" kern="1500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marL="0" lvl="0" indent="0">
              <a:buNone/>
            </a:pPr>
            <a:endParaRPr lang="en-IE" b="1" kern="15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key risk variables derived from the EDA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Normalize and standardize relevant metrics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weighted indicators into a composite risk score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relative risk levels to delivery orders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score will not represent confirmed fraud probability, but rather a relative risk assessment tool to support preventive decision-making.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061082-11B0-4F84-D5A2-8B632F524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733041"/>
              </p:ext>
            </p:extLst>
          </p:nvPr>
        </p:nvGraphicFramePr>
        <p:xfrm>
          <a:off x="5124261" y="1846907"/>
          <a:ext cx="5998425" cy="2105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475">
                  <a:extLst>
                    <a:ext uri="{9D8B030D-6E8A-4147-A177-3AD203B41FA5}">
                      <a16:colId xmlns:a16="http://schemas.microsoft.com/office/drawing/2014/main" val="2804027855"/>
                    </a:ext>
                  </a:extLst>
                </a:gridCol>
                <a:gridCol w="1999475">
                  <a:extLst>
                    <a:ext uri="{9D8B030D-6E8A-4147-A177-3AD203B41FA5}">
                      <a16:colId xmlns:a16="http://schemas.microsoft.com/office/drawing/2014/main" val="1217689272"/>
                    </a:ext>
                  </a:extLst>
                </a:gridCol>
                <a:gridCol w="1999475">
                  <a:extLst>
                    <a:ext uri="{9D8B030D-6E8A-4147-A177-3AD203B41FA5}">
                      <a16:colId xmlns:a16="http://schemas.microsoft.com/office/drawing/2014/main" val="2880210754"/>
                    </a:ext>
                  </a:extLst>
                </a:gridCol>
              </a:tblGrid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05422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Incidence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Frequency of 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027530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Operational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459568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revenue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112984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 revenue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efficiency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99851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Reliability od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4005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DE85E1-9FF3-604D-850E-8E76A8503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398875"/>
              </p:ext>
            </p:extLst>
          </p:nvPr>
        </p:nvGraphicFramePr>
        <p:xfrm>
          <a:off x="5124261" y="4100465"/>
          <a:ext cx="4332586" cy="15248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6293">
                  <a:extLst>
                    <a:ext uri="{9D8B030D-6E8A-4147-A177-3AD203B41FA5}">
                      <a16:colId xmlns:a16="http://schemas.microsoft.com/office/drawing/2014/main" val="1517584828"/>
                    </a:ext>
                  </a:extLst>
                </a:gridCol>
                <a:gridCol w="2166293">
                  <a:extLst>
                    <a:ext uri="{9D8B030D-6E8A-4147-A177-3AD203B41FA5}">
                      <a16:colId xmlns:a16="http://schemas.microsoft.com/office/drawing/2014/main" val="1031264493"/>
                    </a:ext>
                  </a:extLst>
                </a:gridCol>
              </a:tblGrid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 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40315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89066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Moderate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243155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439363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44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87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87C27B-49E2-70B7-834E-189C3F6F4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5CE1-4C52-184C-DB7C-4231401D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1492780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Critical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B1BD-BE53-5FBA-E2CE-FE9C3D7838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532068"/>
            <a:ext cx="11371152" cy="1691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Fraud Risk Segments: </a:t>
            </a:r>
            <a:r>
              <a:rPr lang="en-US" sz="2000" dirty="0"/>
              <a:t>Fraud risk is concentrated in specific operational periods, driver profiles, and high-value products.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Matrix: </a:t>
            </a:r>
            <a:r>
              <a:rPr lang="en-US" sz="2000" dirty="0"/>
              <a:t>High-risk segments cluster in the top-right quadrant, combining high        frequency and high financial impact.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4E2CB-16B0-68FC-948F-F380DB5B1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9" y="833437"/>
            <a:ext cx="5892869" cy="3595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34B61F-3BB7-14DC-6C91-429CB3071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33437"/>
            <a:ext cx="5892869" cy="35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7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ACA6F7-5C2B-D263-B00B-E21C8578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6F2D-3DEF-7AC6-BA64-C5723001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Key Business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9657E-00DC-0CEC-F0C0-2DB0F455722C}"/>
              </a:ext>
            </a:extLst>
          </p:cNvPr>
          <p:cNvSpPr txBox="1"/>
          <p:nvPr/>
        </p:nvSpPr>
        <p:spPr>
          <a:xfrm>
            <a:off x="696303" y="1136210"/>
            <a:ext cx="5224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High-Value Products Drive Risk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Electronics &amp; Premium ($300+) → Critical Risk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 financial exposure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A478B-FEA8-55D9-3EB7-2ACE6420E5F2}"/>
              </a:ext>
            </a:extLst>
          </p:cNvPr>
          <p:cNvSpPr txBox="1"/>
          <p:nvPr/>
        </p:nvSpPr>
        <p:spPr>
          <a:xfrm>
            <a:off x="7408651" y="1136210"/>
            <a:ext cx="40870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Operational Timing Matters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Morning, specific months, and weekdays show higher 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463BB-4B7F-DEE6-73D8-61187D618CE0}"/>
              </a:ext>
            </a:extLst>
          </p:cNvPr>
          <p:cNvSpPr txBox="1"/>
          <p:nvPr/>
        </p:nvSpPr>
        <p:spPr>
          <a:xfrm>
            <a:off x="7408652" y="2711605"/>
            <a:ext cx="45684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Volume ≠ Financial Risk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Low volume + high value → highest risk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41991-6170-82BE-1CB1-7A17919E388D}"/>
              </a:ext>
            </a:extLst>
          </p:cNvPr>
          <p:cNvSpPr txBox="1"/>
          <p:nvPr/>
        </p:nvSpPr>
        <p:spPr>
          <a:xfrm>
            <a:off x="696303" y="2709990"/>
            <a:ext cx="40870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Driver &amp; Customer Segments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Medium trip drivers → higher risk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Adult/Senior groups → elevated patterns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695B1-4DBB-78BB-6DCE-68BE5A6F48C3}"/>
              </a:ext>
            </a:extLst>
          </p:cNvPr>
          <p:cNvSpPr txBox="1"/>
          <p:nvPr/>
        </p:nvSpPr>
        <p:spPr>
          <a:xfrm>
            <a:off x="4052477" y="4010001"/>
            <a:ext cx="40870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Insight</a:t>
            </a:r>
          </a:p>
          <a:p>
            <a:pPr algn="ctr"/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is driven by 3 factors: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products (financial)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timing (process)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behavior (execution)</a:t>
            </a:r>
          </a:p>
        </p:txBody>
      </p:sp>
    </p:spTree>
    <p:extLst>
      <p:ext uri="{BB962C8B-B14F-4D97-AF65-F5344CB8AC3E}">
        <p14:creationId xmlns:p14="http://schemas.microsoft.com/office/powerpoint/2010/main" val="375914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912ABD-828E-8C87-F2DC-99C8D5E11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3A80-96C1-F359-FF4D-8765D1F7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3890720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5.Final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9EC0-5CFD-881D-34C0-B37152FF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769" y="5388055"/>
            <a:ext cx="10477962" cy="146994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exploratory data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Risk level</a:t>
            </a:r>
            <a:endParaRPr lang="en-US" dirty="0"/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1F3B6-F4BE-8DF3-96AA-69AC1BC77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3429000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4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ABD0B2-FB5B-FFA8-2308-801FAD63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A885-4185-90EF-ED5E-F76FE3CB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EDA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E4721-7E65-A957-6624-F45F81520A1A}"/>
              </a:ext>
            </a:extLst>
          </p:cNvPr>
          <p:cNvSpPr txBox="1"/>
          <p:nvPr/>
        </p:nvSpPr>
        <p:spPr>
          <a:xfrm>
            <a:off x="258619" y="1136209"/>
            <a:ext cx="58373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 High-Value Orders</a:t>
            </a:r>
          </a:p>
          <a:p>
            <a:pPr marL="457200" indent="-457200">
              <a:buAutoNum type="arabicPeriod"/>
            </a:pPr>
            <a:endParaRPr lang="en-US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Enforce delivery confirmation (photo + verification)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 recipient holding the package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sent via SMS to the buyer 30 minutes before arrival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Recipient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 check</a:t>
            </a:r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tamper-proof packaging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applied across the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CC084-0349-AA1D-AEEC-0FC29BEF9023}"/>
              </a:ext>
            </a:extLst>
          </p:cNvPr>
          <p:cNvSpPr txBox="1"/>
          <p:nvPr/>
        </p:nvSpPr>
        <p:spPr>
          <a:xfrm>
            <a:off x="3939174" y="3429000"/>
            <a:ext cx="40870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Strengthen Driver Identity Control</a:t>
            </a:r>
          </a:p>
          <a:p>
            <a:endParaRPr lang="en-US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Flag multiple ID accounts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Automatic flagging and manual audit if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2+ driver 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share the same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 ID (IMEI)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or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Account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Implement identity verification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Random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Selfies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 prevent account sharing and "Ghost Drivers.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AE16A-FEE2-BE90-B70C-A168578FC6E1}"/>
              </a:ext>
            </a:extLst>
          </p:cNvPr>
          <p:cNvSpPr txBox="1"/>
          <p:nvPr/>
        </p:nvSpPr>
        <p:spPr>
          <a:xfrm>
            <a:off x="7846337" y="1136210"/>
            <a:ext cx="40870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Improve High-Volume Operations</a:t>
            </a:r>
          </a:p>
          <a:p>
            <a:endParaRPr lang="en-US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 picking validation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Mandatory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barcode validation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every picking stage to eliminate item errors.</a:t>
            </a:r>
          </a:p>
          <a:p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automated order checks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Automated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 to cross-verify order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contents against shipping manifests.</a:t>
            </a:r>
          </a:p>
        </p:txBody>
      </p:sp>
    </p:spTree>
    <p:extLst>
      <p:ext uri="{BB962C8B-B14F-4D97-AF65-F5344CB8AC3E}">
        <p14:creationId xmlns:p14="http://schemas.microsoft.com/office/powerpoint/2010/main" val="250439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80AB14-6547-29AA-F66D-22503638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7B75-CC04-EB66-E026-54D6509F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EDA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FF9B2-5A51-EBAA-951A-C9CA649404E7}"/>
              </a:ext>
            </a:extLst>
          </p:cNvPr>
          <p:cNvSpPr txBox="1"/>
          <p:nvPr/>
        </p:nvSpPr>
        <p:spPr>
          <a:xfrm>
            <a:off x="780771" y="1856622"/>
            <a:ext cx="4568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Develop Driver Performance Strategy</a:t>
            </a:r>
          </a:p>
          <a:p>
            <a:endParaRPr lang="en-US" sz="2000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Train mid-experience drivers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Focused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coaching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established drivers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delivery errors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Incentivize delivery accuracy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Tiered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bonuses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high verification compliance and positive customer ratings.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12A74-0CCD-AA89-C7EE-7E27A93859B0}"/>
              </a:ext>
            </a:extLst>
          </p:cNvPr>
          <p:cNvSpPr txBox="1"/>
          <p:nvPr/>
        </p:nvSpPr>
        <p:spPr>
          <a:xfrm>
            <a:off x="6669340" y="1856622"/>
            <a:ext cx="474188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Implement Risk Monitoring System</a:t>
            </a:r>
          </a:p>
          <a:p>
            <a:endParaRPr lang="en-US" sz="2000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high-risk segments in real time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b="1" dirty="0"/>
              <a:t>Instant notifications </a:t>
            </a:r>
            <a:r>
              <a:rPr lang="en-US" dirty="0"/>
              <a:t>when orders enter designated </a:t>
            </a:r>
            <a:r>
              <a:rPr lang="en-US" b="1" dirty="0"/>
              <a:t>"Red Flag" sectors</a:t>
            </a:r>
            <a:r>
              <a:rPr lang="en-US" dirty="0"/>
              <a:t>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products, drivers, and time windows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b="1" dirty="0"/>
              <a:t>Auditing</a:t>
            </a:r>
            <a:r>
              <a:rPr lang="en-US" dirty="0"/>
              <a:t> the overlap of high-value goods, new drivers, and morning/early week shift windows.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26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72E0E5-F963-6E11-260A-68AFAB7E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C233-ACBD-EEBB-1452-E23EB7D3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Risk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73E65-FDB7-5B00-43B0-86A2D196D210}"/>
              </a:ext>
            </a:extLst>
          </p:cNvPr>
          <p:cNvSpPr txBox="1"/>
          <p:nvPr/>
        </p:nvSpPr>
        <p:spPr>
          <a:xfrm>
            <a:off x="3272878" y="1074509"/>
            <a:ext cx="62758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Enforce delivery confirmation (photo + PIN +Verification)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 tamper-proof packaging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high-value items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Flag multiple drivers ID accounts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high-risk segments in real time</a:t>
            </a:r>
          </a:p>
          <a:p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 picking validation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automated order checks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 monitoring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for pattern escalation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immediate action required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1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757A93-1EA7-646C-4D8E-699F6AD3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DC43-5F77-17A2-9F64-A9BBF7B9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96" y="3998537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6.Project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0A5B1-4C04-391A-582E-D9913923B4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57096" y="314095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5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08B0ED-64C4-796C-9A07-36D7D4C9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ECE7E95-B5A2-73A1-45B4-FED869565043}"/>
              </a:ext>
            </a:extLst>
          </p:cNvPr>
          <p:cNvSpPr txBox="1"/>
          <p:nvPr/>
        </p:nvSpPr>
        <p:spPr>
          <a:xfrm>
            <a:off x="2958072" y="458956"/>
            <a:ext cx="62758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→ financial loss &amp; customer dissatisfaction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Issue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operational, not fraud-driven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Drivers: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products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timing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behavior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drives errors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drives losses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 high-value orders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operations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drivers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risk framework</a:t>
            </a:r>
          </a:p>
        </p:txBody>
      </p:sp>
    </p:spTree>
    <p:extLst>
      <p:ext uri="{BB962C8B-B14F-4D97-AF65-F5344CB8AC3E}">
        <p14:creationId xmlns:p14="http://schemas.microsoft.com/office/powerpoint/2010/main" val="82145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A34314-CB74-66F1-C95B-2381498E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46D4-5C4C-7C9F-23DA-4D6E6006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2242990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7.Fraud Risk Score Simulator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4DBC9-BF37-49C1-4B0F-56044788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769" y="3569747"/>
            <a:ext cx="10477962" cy="3288254"/>
          </a:xfrm>
        </p:spPr>
        <p:txBody>
          <a:bodyPr>
            <a:normAutofit fontScale="70000" lnSpcReduction="20000"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fraud risk simulator was developed using the Fraud Risk Framework scores.</a:t>
            </a:r>
          </a:p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 estimates the risk level of a delivery based on operational, driver, customer, and product characteristics by aggregating segment-level risk scores.</a:t>
            </a:r>
          </a:p>
          <a:p>
            <a:b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Link: https://delivery-fraud-risk-score-simulator-walmart.streamlit.app/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E9F7D-4972-5710-18CF-4EEB9656F8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1673453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9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94EDE0-C75C-8814-EF50-383362E26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55E0-9277-9D6D-3990-312A45EF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699192" cy="1325563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Simulator – How to operate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Delivery Fraud Risk Simulator">
            <a:hlinkClick r:id="" action="ppaction://media"/>
            <a:extLst>
              <a:ext uri="{FF2B5EF4-FFF2-40B4-BE49-F238E27FC236}">
                <a16:creationId xmlns:a16="http://schemas.microsoft.com/office/drawing/2014/main" id="{1AB18D57-B2E5-42E5-4D13-F0FC2ACA02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1149" y="1136209"/>
            <a:ext cx="9216427" cy="434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4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1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586683-F5D5-69CF-9BED-3F8B20CA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93A4-783C-2D79-E038-E8F75B75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96" y="3998537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8.Interactive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5ED09D-BDAA-0E2A-EB06-352B2ED7C1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57096" y="314095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5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9F9CFF-E66F-CAB1-D315-FD78625C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8A2F-6055-7FA0-CAEF-847CECF6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Risk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35E1A-BFE4-D049-B4FF-48BC6CDD972C}"/>
              </a:ext>
            </a:extLst>
          </p:cNvPr>
          <p:cNvSpPr txBox="1"/>
          <p:nvPr/>
        </p:nvSpPr>
        <p:spPr>
          <a:xfrm>
            <a:off x="3272878" y="1074509"/>
            <a:ext cx="62758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Enforce delivery confirmation (photo + PIN +Verification)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 tamper-proof packaging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high-value items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Flag multiple drivers ID accounts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high-risk segments in real time</a:t>
            </a:r>
          </a:p>
          <a:p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 picking validation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automated order checks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 monitoring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for pattern escalation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immediate action required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84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18B152-DF26-E210-A5E2-23EF9BD3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30E3-FB47-0259-3C94-832BC0B28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96" y="3998537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DDF42-D5BE-012B-8E08-71E3D8B927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57096" y="314095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9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28664-FF51-EBD0-2134-BFCF6415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09" y="649406"/>
            <a:ext cx="1364776" cy="13647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B7FA14-218A-D00E-7626-F975C80A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90600"/>
            <a:ext cx="2115403" cy="2115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0A5895-21A2-57DD-3CAB-A385FE103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051" y="829101"/>
            <a:ext cx="2438400" cy="2438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4B2B9A-99C7-A302-ED0E-162336C4E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883" y="3106003"/>
            <a:ext cx="2115403" cy="21154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DB063A-8562-5947-5475-B87F14811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427" y="3624618"/>
            <a:ext cx="1992573" cy="1992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0E7D73-9AB9-6253-C5A4-3955FD62E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741" y="3106003"/>
            <a:ext cx="2243123" cy="22431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75432D-9130-97AC-35D0-BB1C692BF4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116" y="1480606"/>
            <a:ext cx="3250794" cy="32507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4F3787-30E4-6DE2-0AD1-ACF2316796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259" y="990259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nrio-PowerPoint-Template" id="{05B682D2-4063-504B-972A-2EFD4504373A}" vid="{92F9DAE4-59F8-F046-A190-212E94FEC9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Walmart-PowerPoint-Template</Template>
  <TotalTime>3312</TotalTime>
  <Words>3398</Words>
  <Application>Microsoft Office PowerPoint</Application>
  <PresentationFormat>Widescreen</PresentationFormat>
  <Paragraphs>859</Paragraphs>
  <Slides>44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Arial</vt:lpstr>
      <vt:lpstr>Calibri</vt:lpstr>
      <vt:lpstr>Montserrat SemiBold</vt:lpstr>
      <vt:lpstr>Roboto</vt:lpstr>
      <vt:lpstr>Office Theme</vt:lpstr>
      <vt:lpstr>Fraud Risk Analysis in Delivery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 (Supporting Metrics)</vt:lpstr>
      <vt:lpstr>Hypotheses Validation - Seasonality</vt:lpstr>
      <vt:lpstr>PowerPoint Presentation</vt:lpstr>
      <vt:lpstr>PowerPoint Presentation</vt:lpstr>
      <vt:lpstr>Hypotheses Validation - Location</vt:lpstr>
      <vt:lpstr>PowerPoint Presentation</vt:lpstr>
      <vt:lpstr>Hypotheses Validation - Products</vt:lpstr>
      <vt:lpstr>PowerPoint Presentation</vt:lpstr>
      <vt:lpstr>PowerPoint Presentation</vt:lpstr>
      <vt:lpstr>Hypotheses Validation - Customers</vt:lpstr>
      <vt:lpstr>Hypotheses Validation - Drivers</vt:lpstr>
      <vt:lpstr>PowerPoint Presentation</vt:lpstr>
      <vt:lpstr>PowerPoint Presentation</vt:lpstr>
      <vt:lpstr>Additional Analysis (Operational Monitoring)</vt:lpstr>
      <vt:lpstr>PowerPoint Presentation</vt:lpstr>
      <vt:lpstr>PowerPoint Presentation</vt:lpstr>
      <vt:lpstr>Integrated Analytical Narrative (H1-H12)</vt:lpstr>
      <vt:lpstr>PowerPoint Presentation</vt:lpstr>
      <vt:lpstr>Hypotheses Key Findings</vt:lpstr>
      <vt:lpstr>PowerPoint Presentation</vt:lpstr>
      <vt:lpstr>4.Fraud Risk Score Framework</vt:lpstr>
      <vt:lpstr>Fraud Risk Score Framework Methodology</vt:lpstr>
      <vt:lpstr>Most Critical Segments</vt:lpstr>
      <vt:lpstr>Fraud Risk Score Key Business Findings</vt:lpstr>
      <vt:lpstr>5.Final Recommendations</vt:lpstr>
      <vt:lpstr>Recommendations based on EDA</vt:lpstr>
      <vt:lpstr>Recommendations based on EDA</vt:lpstr>
      <vt:lpstr>Recommendations based on Risk Level</vt:lpstr>
      <vt:lpstr>6.Project Summary</vt:lpstr>
      <vt:lpstr>PowerPoint Presentation</vt:lpstr>
      <vt:lpstr>7.Fraud Risk Score Simulator</vt:lpstr>
      <vt:lpstr>Fraud Risk Score Simulator – How to operate</vt:lpstr>
      <vt:lpstr>8.Interactive Dashboard</vt:lpstr>
      <vt:lpstr>Recommendations based on Risk Level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147</cp:revision>
  <dcterms:created xsi:type="dcterms:W3CDTF">2026-03-14T16:59:09Z</dcterms:created>
  <dcterms:modified xsi:type="dcterms:W3CDTF">2026-03-23T16:49:20Z</dcterms:modified>
</cp:coreProperties>
</file>